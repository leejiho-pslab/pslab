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embeddedFontLst>
    <p:embeddedFont>
      <p:font typeface="Pretendard"/>
      <p:regular r:id="rIdFont1"/>
      <p:bold r:id="rIdFont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28919" y="1051560"/>
            <a:ext cx="1133856" cy="113385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sz="2400" b="1">
                <a:solidFill>
                  <a:srgbClr val="F4F6FB"/>
                </a:solidFill>
                <a:latin typeface="Georgia"/>
              </a:rPr>
              <a:t>P.S</a:t>
            </a:r>
          </a:p>
          <a:p>
            <a:pPr algn="ctr">
              <a:lnSpc>
                <a:spcPct val="95000"/>
              </a:lnSpc>
            </a:pPr>
            <a:r>
              <a:rPr sz="2400" b="1">
                <a:solidFill>
                  <a:srgbClr val="F4F6FB"/>
                </a:solidFill>
                <a:latin typeface="Georgia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395728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4D8BFF"/>
                </a:solidFill>
                <a:latin typeface="Pretendard"/>
              </a:rPr>
              <a:t>S N S   채 널   자 동 화   솔 루 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834640"/>
            <a:ext cx="1219169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4600" b="1">
                <a:solidFill>
                  <a:srgbClr val="F4F6FB"/>
                </a:solidFill>
                <a:latin typeface="Pretendard"/>
              </a:rPr>
              <a:t>매일 올리지 않아도,</a:t>
            </a:r>
          </a:p>
          <a:p>
            <a:pPr algn="ctr">
              <a:lnSpc>
                <a:spcPct val="106000"/>
              </a:lnSpc>
            </a:pPr>
            <a:r>
              <a:rPr sz="4600" b="1">
                <a:solidFill>
                  <a:srgbClr val="F4F6FB"/>
                </a:solidFill>
                <a:latin typeface="Pretendard"/>
              </a:rPr>
              <a:t>매일 쌓입니다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>
                <a:solidFill>
                  <a:srgbClr val="AEB7C8"/>
                </a:solidFill>
                <a:latin typeface="Pretendard"/>
              </a:rPr>
              <a:t>다섯 개의 채널을 한 번에, 사람 손 없이 자동으로 운영합니다.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138928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4F6FB"/>
                </a:solidFill>
                <a:latin typeface="Pretendard"/>
              </a:rPr>
              <a:t>인스타그램    ·    네이버 블로그    ·    구글 블로그    ·    스레드    ·    유튜브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80644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AEB7C8"/>
                </a:solidFill>
                <a:latin typeface="Pretendard"/>
              </a:rPr>
              <a:t>● 실제 운영 예시 · PSLAB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292608"/>
            <a:ext cx="310896" cy="310896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P·S</a:t>
            </a:r>
          </a:p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3291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AEB7C8"/>
                </a:solidFill>
                <a:latin typeface="Georgia"/>
              </a:rPr>
              <a:t>P S L A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740664"/>
            <a:ext cx="256032" cy="25603"/>
          </a:xfrm>
          <a:prstGeom prst="roundRect">
            <a:avLst/>
          </a:prstGeom>
          <a:solidFill>
            <a:srgbClr val="4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6583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D8BFF"/>
                </a:solidFill>
                <a:latin typeface="Pretendard"/>
              </a:rPr>
              <a:t>왜 온라인 채널인가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F4F6FB"/>
                </a:solidFill>
                <a:latin typeface="Pretendard"/>
              </a:rPr>
              <a:t>손님이 단골이 되는 길목마다,</a:t>
            </a:r>
          </a:p>
          <a:p>
            <a:pPr algn="l">
              <a:lnSpc>
                <a:spcPct val="106000"/>
              </a:lnSpc>
            </a:pPr>
            <a:r>
              <a:rPr sz="4000" b="1">
                <a:solidFill>
                  <a:srgbClr val="F4F6FB"/>
                </a:solidFill>
                <a:latin typeface="Pretendard"/>
              </a:rPr>
              <a:t>채널이 일합니다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AEB7C8"/>
                </a:solidFill>
                <a:latin typeface="Pretendard"/>
              </a:rPr>
              <a:t>손님은 발견 → 검색 → 확신 → 단골의 여정을 지나갑니다. 다섯 채널은 각자 다른 길목을 지킵니다.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91840"/>
            <a:ext cx="2453563" cy="233172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64592" bIns="128016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D8BFF"/>
                </a:solidFill>
                <a:latin typeface="Pretendard"/>
              </a:rPr>
              <a:t>1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800" b="1">
                <a:solidFill>
                  <a:srgbClr val="F4F6FB"/>
                </a:solidFill>
                <a:latin typeface="Pretendard"/>
              </a:rPr>
              <a:t>👀 발견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200" b="0">
                <a:solidFill>
                  <a:srgbClr val="8B93A7"/>
                </a:solidFill>
                <a:latin typeface="Pretendard"/>
              </a:rPr>
              <a:t>스쳐 지나가다 처음 봅니다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800" b="0">
                <a:solidFill>
                  <a:srgbClr val="2A3040"/>
                </a:solidFill>
                <a:latin typeface="Pretendard"/>
              </a:rPr>
              <a:t>─────────────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50" b="1">
                <a:solidFill>
                  <a:srgbClr val="F4F6FB"/>
                </a:solidFill>
                <a:latin typeface="Pretendard"/>
              </a:rPr>
              <a:t>인스타그램</a:t>
            </a:r>
            <a:r>
              <a:rPr sz="1100" b="0">
                <a:solidFill>
                  <a:srgbClr val="AEB7C8"/>
                </a:solidFill>
                <a:latin typeface="Pretendard"/>
              </a:rPr>
              <a:t> — 카드뉴스로 첫 눈도장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50" b="1">
                <a:solidFill>
                  <a:srgbClr val="F4F6FB"/>
                </a:solidFill>
                <a:latin typeface="Pretendard"/>
              </a:rPr>
              <a:t>스레드</a:t>
            </a:r>
            <a:r>
              <a:rPr sz="1100" b="0">
                <a:solidFill>
                  <a:srgbClr val="AEB7C8"/>
                </a:solidFill>
                <a:latin typeface="Pretendard"/>
              </a:rPr>
              <a:t> — 대화 속 입소문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9091" y="4206240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8B93A7"/>
                </a:solidFill>
                <a:latin typeface="Pretendar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5123" y="3291840"/>
            <a:ext cx="2453563" cy="233172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64592" bIns="128016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D8BFF"/>
                </a:solidFill>
                <a:latin typeface="Pretendard"/>
              </a:rPr>
              <a:t>2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800" b="1">
                <a:solidFill>
                  <a:srgbClr val="F4F6FB"/>
                </a:solidFill>
                <a:latin typeface="Pretendard"/>
              </a:rPr>
              <a:t>🔎 검색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200" b="0">
                <a:solidFill>
                  <a:srgbClr val="8B93A7"/>
                </a:solidFill>
                <a:latin typeface="Pretendard"/>
              </a:rPr>
              <a:t>이름과 후기를 검색해 봅니다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800" b="0">
                <a:solidFill>
                  <a:srgbClr val="2A3040"/>
                </a:solidFill>
                <a:latin typeface="Pretendard"/>
              </a:rPr>
              <a:t>─────────────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50" b="1">
                <a:solidFill>
                  <a:srgbClr val="F4F6FB"/>
                </a:solidFill>
                <a:latin typeface="Pretendard"/>
              </a:rPr>
              <a:t>네이버 블로그</a:t>
            </a:r>
            <a:r>
              <a:rPr sz="1100" b="0">
                <a:solidFill>
                  <a:srgbClr val="AEB7C8"/>
                </a:solidFill>
                <a:latin typeface="Pretendard"/>
              </a:rPr>
              <a:t> — 네이버 검색의 답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50" b="1">
                <a:solidFill>
                  <a:srgbClr val="F4F6FB"/>
                </a:solidFill>
                <a:latin typeface="Pretendard"/>
              </a:rPr>
              <a:t>구글 블로그</a:t>
            </a:r>
            <a:r>
              <a:rPr sz="1100" b="0">
                <a:solidFill>
                  <a:srgbClr val="AEB7C8"/>
                </a:solidFill>
                <a:latin typeface="Pretendard"/>
              </a:rPr>
              <a:t> — 구글 검색·SEO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6975" y="4206240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8B93A7"/>
                </a:solidFill>
                <a:latin typeface="Pretendard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291840"/>
            <a:ext cx="2453563" cy="233172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64592" bIns="128016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D8BFF"/>
                </a:solidFill>
                <a:latin typeface="Pretendard"/>
              </a:rPr>
              <a:t>3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800" b="1">
                <a:solidFill>
                  <a:srgbClr val="F4F6FB"/>
                </a:solidFill>
                <a:latin typeface="Pretendard"/>
              </a:rPr>
              <a:t>🤝 확신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200" b="0">
                <a:solidFill>
                  <a:srgbClr val="8B93A7"/>
                </a:solidFill>
                <a:latin typeface="Pretendard"/>
              </a:rPr>
              <a:t>믿을 만한지 살펴봅니다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800" b="0">
                <a:solidFill>
                  <a:srgbClr val="2A3040"/>
                </a:solidFill>
                <a:latin typeface="Pretendard"/>
              </a:rPr>
              <a:t>─────────────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50" b="1">
                <a:solidFill>
                  <a:srgbClr val="F4F6FB"/>
                </a:solidFill>
                <a:latin typeface="Pretendard"/>
              </a:rPr>
              <a:t>유튜브</a:t>
            </a:r>
            <a:r>
              <a:rPr sz="1100" b="0">
                <a:solidFill>
                  <a:srgbClr val="AEB7C8"/>
                </a:solidFill>
                <a:latin typeface="Pretendard"/>
              </a:rPr>
              <a:t> — 30초 쇼츠로 생생하게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50" b="1">
                <a:solidFill>
                  <a:srgbClr val="F4F6FB"/>
                </a:solidFill>
                <a:latin typeface="Pretendard"/>
              </a:rPr>
              <a:t>발행 기록</a:t>
            </a:r>
            <a:r>
              <a:rPr sz="1100" b="0">
                <a:solidFill>
                  <a:srgbClr val="AEB7C8"/>
                </a:solidFill>
                <a:latin typeface="Pretendard"/>
              </a:rPr>
              <a:t> — 꾸준함이 곧 신뢰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4859" y="4206240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8B93A7"/>
                </a:solidFill>
                <a:latin typeface="Pretendard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0891" y="3291840"/>
            <a:ext cx="2453563" cy="233172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64592" bIns="128016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D8BFF"/>
                </a:solidFill>
                <a:latin typeface="Pretendard"/>
              </a:rPr>
              <a:t>4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800" b="1">
                <a:solidFill>
                  <a:srgbClr val="F4F6FB"/>
                </a:solidFill>
                <a:latin typeface="Pretendard"/>
              </a:rPr>
              <a:t>❤️ 단골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200" b="0">
                <a:solidFill>
                  <a:srgbClr val="8B93A7"/>
                </a:solidFill>
                <a:latin typeface="Pretendard"/>
              </a:rPr>
              <a:t>구매하고, 다시 찾아옵니다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800" b="0">
                <a:solidFill>
                  <a:srgbClr val="2A3040"/>
                </a:solidFill>
                <a:latin typeface="Pretendard"/>
              </a:rPr>
              <a:t>─────────────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50" b="1">
                <a:solidFill>
                  <a:srgbClr val="F4F6FB"/>
                </a:solidFill>
                <a:latin typeface="Pretendard"/>
              </a:rPr>
              <a:t>피드 재노출</a:t>
            </a:r>
            <a:r>
              <a:rPr sz="1100" b="0">
                <a:solidFill>
                  <a:srgbClr val="AEB7C8"/>
                </a:solidFill>
                <a:latin typeface="Pretendard"/>
              </a:rPr>
              <a:t> — 잊히지 않게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50" b="1">
                <a:solidFill>
                  <a:srgbClr val="F4F6FB"/>
                </a:solidFill>
                <a:latin typeface="Pretendard"/>
              </a:rPr>
              <a:t>소식·대화</a:t>
            </a:r>
            <a:r>
              <a:rPr sz="1100" b="0">
                <a:solidFill>
                  <a:srgbClr val="AEB7C8"/>
                </a:solidFill>
                <a:latin typeface="Pretendard"/>
              </a:rPr>
              <a:t> — 팬으로 이어짐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870448"/>
            <a:ext cx="10637215" cy="566928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EB7C8"/>
                </a:solidFill>
                <a:latin typeface="Pretendard"/>
              </a:rPr>
              <a:t>🔎 ‘검색’ 길목의 수요는 이미 숫자로 보입니다    </a:t>
            </a:r>
            <a:r>
              <a:rPr sz="1150">
                <a:solidFill>
                  <a:srgbClr val="8B93A7"/>
                </a:solidFill>
                <a:latin typeface="Pretendard"/>
              </a:rPr>
              <a:t>#마케팅인사이트 </a:t>
            </a:r>
            <a:r>
              <a:rPr sz="1250" b="1">
                <a:solidFill>
                  <a:srgbClr val="4D8BFF"/>
                </a:solidFill>
                <a:latin typeface="Pretendard"/>
              </a:rPr>
              <a:t>90,527</a:t>
            </a:r>
            <a:r>
              <a:rPr sz="1150">
                <a:solidFill>
                  <a:srgbClr val="8B93A7"/>
                </a:solidFill>
                <a:latin typeface="Pretendard"/>
              </a:rPr>
              <a:t>   #퍼포먼스마케팅 </a:t>
            </a:r>
            <a:r>
              <a:rPr sz="1250" b="1">
                <a:solidFill>
                  <a:srgbClr val="4D8BFF"/>
                </a:solidFill>
                <a:latin typeface="Pretendard"/>
              </a:rPr>
              <a:t>70,479</a:t>
            </a:r>
            <a:r>
              <a:rPr sz="1150">
                <a:solidFill>
                  <a:srgbClr val="8B93A7"/>
                </a:solidFill>
                <a:latin typeface="Pretendard"/>
              </a:rPr>
              <a:t>   #업계비하인드 </a:t>
            </a:r>
            <a:r>
              <a:rPr sz="1250" b="1">
                <a:solidFill>
                  <a:srgbClr val="4D8BFF"/>
                </a:solidFill>
                <a:latin typeface="Pretendard"/>
              </a:rPr>
              <a:t>63,725</a:t>
            </a:r>
            <a:r>
              <a:rPr sz="1150">
                <a:solidFill>
                  <a:srgbClr val="8B93A7"/>
                </a:solidFill>
                <a:latin typeface="Pretendard"/>
              </a:rPr>
              <a:t>   #마케팅전략 </a:t>
            </a:r>
            <a:r>
              <a:rPr sz="1250" b="1">
                <a:solidFill>
                  <a:srgbClr val="4D8BFF"/>
                </a:solidFill>
                <a:latin typeface="Pretendard"/>
              </a:rPr>
              <a:t>41,224</a:t>
            </a:r>
            <a:r>
              <a:rPr sz="1050">
                <a:solidFill>
                  <a:srgbClr val="8B93A7"/>
                </a:solidFill>
                <a:latin typeface="Pretendard"/>
              </a:rPr>
              <a:t>     (월 검색 지수 · 실측 데이터)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292608"/>
            <a:ext cx="310896" cy="310896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P·S</a:t>
            </a:r>
          </a:p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3291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AEB7C8"/>
                </a:solidFill>
                <a:latin typeface="Georgia"/>
              </a:rPr>
              <a:t>P S L A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740664"/>
            <a:ext cx="256032" cy="25603"/>
          </a:xfrm>
          <a:prstGeom prst="roundRect">
            <a:avLst/>
          </a:prstGeom>
          <a:solidFill>
            <a:srgbClr val="4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6583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D8BFF"/>
                </a:solidFill>
                <a:latin typeface="Pretendard"/>
              </a:rPr>
              <a:t>그런데, 현실은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F4F6FB"/>
                </a:solidFill>
                <a:latin typeface="Pretendard"/>
              </a:rPr>
              <a:t>매일 5개 채널은,</a:t>
            </a:r>
          </a:p>
          <a:p>
            <a:pPr algn="l">
              <a:lnSpc>
                <a:spcPct val="106000"/>
              </a:lnSpc>
            </a:pPr>
            <a:r>
              <a:rPr sz="4000" b="1">
                <a:solidFill>
                  <a:srgbClr val="F4F6FB"/>
                </a:solidFill>
                <a:latin typeface="Pretendard"/>
              </a:rPr>
              <a:t>혼자서는 무리입니다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AEB7C8"/>
                </a:solidFill>
                <a:latin typeface="Pretendard"/>
              </a:rPr>
              <a:t>채널 다섯 곳에 매일 글을 올리는 일은 매일 아침 가게 문 다섯 개를 직접 여는 것과 같습니다.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AEB7C8"/>
                </a:solidFill>
                <a:latin typeface="Pretendard"/>
              </a:rPr>
              <a:t>쉬는 날 없이, 글·사진·영상을 매번 새로 만들어야 하니까요. 그래서 대부분은 셋 중 하나가 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69080"/>
            <a:ext cx="3393338" cy="192024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D8BFF"/>
                </a:solidFill>
                <a:latin typeface="Pretendard"/>
              </a:rPr>
              <a:t>하나</a:t>
            </a:r>
          </a:p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F6FB"/>
                </a:solidFill>
                <a:latin typeface="Pretendard"/>
              </a:rPr>
              <a:t>사람을 씁니다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50" b="0">
                <a:solidFill>
                  <a:srgbClr val="AEB7C8"/>
                </a:solidFill>
                <a:latin typeface="Pretendard"/>
              </a:rPr>
              <a:t>직원이나 대행사에 맡깁니다. 매달 수백만 원이 고정으로 나갑니다.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4069080"/>
            <a:ext cx="3393338" cy="192024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D8BFF"/>
                </a:solidFill>
                <a:latin typeface="Pretendard"/>
              </a:rPr>
              <a:t>둘</a:t>
            </a:r>
          </a:p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F6FB"/>
                </a:solidFill>
                <a:latin typeface="Pretendard"/>
              </a:rPr>
              <a:t>며칠 하다 멈춥니다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50" b="0">
                <a:solidFill>
                  <a:srgbClr val="AEB7C8"/>
                </a:solidFill>
                <a:latin typeface="Pretendard"/>
              </a:rPr>
              <a:t>바빠지면 손을 놓습니다. 채널은 몇 주째 방치됩니다.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1116" y="4069080"/>
            <a:ext cx="3393338" cy="192024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D8BFF"/>
                </a:solidFill>
                <a:latin typeface="Pretendard"/>
              </a:rPr>
              <a:t>셋</a:t>
            </a:r>
          </a:p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F6FB"/>
                </a:solidFill>
                <a:latin typeface="Pretendard"/>
              </a:rPr>
              <a:t>시작을 못 합니다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50" b="0">
                <a:solidFill>
                  <a:srgbClr val="AEB7C8"/>
                </a:solidFill>
                <a:latin typeface="Pretendard"/>
              </a:rPr>
              <a:t>'나중에'가 반복됩니다. 경쟁사가 앞서가는 걸 지켜만 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292608"/>
            <a:ext cx="310896" cy="310896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P·S</a:t>
            </a:r>
          </a:p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3291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AEB7C8"/>
                </a:solidFill>
                <a:latin typeface="Georgia"/>
              </a:rPr>
              <a:t>P S L A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740664"/>
            <a:ext cx="256032" cy="25603"/>
          </a:xfrm>
          <a:prstGeom prst="roundRect">
            <a:avLst/>
          </a:prstGeom>
          <a:solidFill>
            <a:srgbClr val="4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6583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D8BFF"/>
                </a:solidFill>
                <a:latin typeface="Pretendard"/>
              </a:rPr>
              <a:t>우리의 약속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28016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4000" b="1">
                <a:solidFill>
                  <a:srgbClr val="F4F6FB"/>
                </a:solidFill>
                <a:latin typeface="Pretendard"/>
              </a:rPr>
              <a:t>이 세 가지 걱정을,</a:t>
            </a:r>
          </a:p>
          <a:p>
            <a:pPr algn="ctr">
              <a:lnSpc>
                <a:spcPct val="106000"/>
              </a:lnSpc>
            </a:pPr>
            <a:r>
              <a:rPr sz="4000" b="1">
                <a:solidFill>
                  <a:srgbClr val="F4F6FB"/>
                </a:solidFill>
                <a:latin typeface="Pretendard"/>
              </a:rPr>
              <a:t>한 번에 없앱니다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383280"/>
            <a:ext cx="3393338" cy="155448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ctr">
              <a:lnSpc>
                <a:spcPct val="112000"/>
              </a:lnSpc>
            </a:pPr>
            <a:r>
              <a:rPr sz="1700" b="1">
                <a:solidFill>
                  <a:srgbClr val="4D8BFF"/>
                </a:solidFill>
                <a:latin typeface="Pretendard"/>
              </a:rPr>
              <a:t>안 올려도 올라갑니다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50" b="0">
                <a:solidFill>
                  <a:srgbClr val="AEB7C8"/>
                </a:solidFill>
                <a:latin typeface="Pretendard"/>
              </a:rPr>
              <a:t>사람이 없어도 매일 자동 발행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3383280"/>
            <a:ext cx="3393338" cy="155448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ctr">
              <a:lnSpc>
                <a:spcPct val="112000"/>
              </a:lnSpc>
            </a:pPr>
            <a:r>
              <a:rPr sz="1700" b="1">
                <a:solidFill>
                  <a:srgbClr val="4D8BFF"/>
                </a:solidFill>
                <a:latin typeface="Pretendard"/>
              </a:rPr>
              <a:t>멈추지 않습니다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50" b="0">
                <a:solidFill>
                  <a:srgbClr val="AEB7C8"/>
                </a:solidFill>
                <a:latin typeface="Pretendard"/>
              </a:rPr>
              <a:t>24시간 쉬지 않고 자동 운영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1116" y="3383280"/>
            <a:ext cx="3393338" cy="155448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ctr">
              <a:lnSpc>
                <a:spcPct val="112000"/>
              </a:lnSpc>
            </a:pPr>
            <a:r>
              <a:rPr sz="1700" b="1">
                <a:solidFill>
                  <a:srgbClr val="4D8BFF"/>
                </a:solidFill>
                <a:latin typeface="Pretendard"/>
              </a:rPr>
              <a:t>지금 시작합니다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50" b="0">
                <a:solidFill>
                  <a:srgbClr val="AEB7C8"/>
                </a:solidFill>
                <a:latin typeface="Pretendard"/>
              </a:rPr>
              <a:t>세팅만 하면 오늘부터 가동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292608"/>
            <a:ext cx="310896" cy="310896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P·S</a:t>
            </a:r>
          </a:p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3291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AEB7C8"/>
                </a:solidFill>
                <a:latin typeface="Georgia"/>
              </a:rPr>
              <a:t>P S L A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740664"/>
            <a:ext cx="256032" cy="25603"/>
          </a:xfrm>
          <a:prstGeom prst="roundRect">
            <a:avLst/>
          </a:prstGeom>
          <a:solidFill>
            <a:srgbClr val="4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6583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D8BFF"/>
                </a:solidFill>
                <a:latin typeface="Pretendard"/>
              </a:rPr>
              <a:t>어떻게 돌아가나요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058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4F6FB"/>
                </a:solidFill>
                <a:latin typeface="Pretendard"/>
              </a:rPr>
              <a:t>한 바퀴가 저절로 도는, 네 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AEB7C8"/>
                </a:solidFill>
                <a:latin typeface="Pretendard"/>
              </a:rPr>
              <a:t>사람은 처음에 방향만 정해주면 됩니다. 그다음부터는 이 네 단계가 매일 스스로 반복됩니다.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68880"/>
            <a:ext cx="2508427" cy="182880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D8BFF"/>
                </a:solidFill>
                <a:latin typeface="Pretendard"/>
              </a:rPr>
              <a:t>STEP 1</a:t>
            </a:r>
          </a:p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F6FB"/>
                </a:solidFill>
                <a:latin typeface="Pretendard"/>
              </a:rPr>
              <a:t>조사 · 기획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50" b="0">
                <a:solidFill>
                  <a:srgbClr val="AEB7C8"/>
                </a:solidFill>
                <a:latin typeface="Pretendard"/>
              </a:rPr>
              <a:t>시장·경쟁사·키워드를 살펴 반응 나올 주제를 잡습니다.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6835" y="2468880"/>
            <a:ext cx="2508427" cy="182880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D8BFF"/>
                </a:solidFill>
                <a:latin typeface="Pretendard"/>
              </a:rPr>
              <a:t>STEP 2</a:t>
            </a:r>
          </a:p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F6FB"/>
                </a:solidFill>
                <a:latin typeface="Pretendard"/>
              </a:rPr>
              <a:t>글·이미지·영상 제작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50" b="0">
                <a:solidFill>
                  <a:srgbClr val="AEB7C8"/>
                </a:solidFill>
                <a:latin typeface="Pretendard"/>
              </a:rPr>
              <a:t>전문가 말투의 글과 카드·쇼츠를 자동으로 만듭니다.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2468880"/>
            <a:ext cx="2508427" cy="182880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D8BFF"/>
                </a:solidFill>
                <a:latin typeface="Pretendard"/>
              </a:rPr>
              <a:t>STEP 3</a:t>
            </a:r>
          </a:p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F6FB"/>
                </a:solidFill>
                <a:latin typeface="Pretendard"/>
              </a:rPr>
              <a:t>5채널 동시 발행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50" b="0">
                <a:solidFill>
                  <a:srgbClr val="AEB7C8"/>
                </a:solidFill>
                <a:latin typeface="Pretendard"/>
              </a:rPr>
              <a:t>매일 정해진 시각에 다섯 채널로 한 번에.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027" y="2468880"/>
            <a:ext cx="2508427" cy="182880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D8BFF"/>
                </a:solidFill>
                <a:latin typeface="Pretendard"/>
              </a:rPr>
              <a:t>STEP 4</a:t>
            </a:r>
          </a:p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F6FB"/>
                </a:solidFill>
                <a:latin typeface="Pretendard"/>
              </a:rPr>
              <a:t>성과 학습 · 최적화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50" b="0">
                <a:solidFill>
                  <a:srgbClr val="AEB7C8"/>
                </a:solidFill>
                <a:latin typeface="Pretendard"/>
              </a:rPr>
              <a:t>반응을 배워 다음 기획을 더 정교하게 다듬습니다.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4D8BFF"/>
                </a:solidFill>
                <a:latin typeface="Pretendard"/>
              </a:rPr>
              <a:t>↻  다시 1번으로 · 매일 자동 반복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292608"/>
            <a:ext cx="310896" cy="310896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P·S</a:t>
            </a:r>
          </a:p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3291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AEB7C8"/>
                </a:solidFill>
                <a:latin typeface="Georgia"/>
              </a:rPr>
              <a:t>P S L A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740664"/>
            <a:ext cx="256032" cy="25603"/>
          </a:xfrm>
          <a:prstGeom prst="round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6583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B454"/>
                </a:solidFill>
                <a:latin typeface="Pretendard"/>
              </a:rPr>
              <a:t>핵심 차별점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5669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F4F6FB"/>
                </a:solidFill>
                <a:latin typeface="Pretendard"/>
              </a:rPr>
              <a:t>그냥 올리기만 하지</a:t>
            </a:r>
          </a:p>
          <a:p>
            <a:pPr algn="l">
              <a:lnSpc>
                <a:spcPct val="106000"/>
              </a:lnSpc>
            </a:pPr>
            <a:r>
              <a:rPr sz="3400" b="1">
                <a:solidFill>
                  <a:srgbClr val="F4F6FB"/>
                </a:solidFill>
                <a:latin typeface="Pretendard"/>
              </a:rPr>
              <a:t>않습니다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AEB7C8"/>
                </a:solidFill>
                <a:latin typeface="Pretendard"/>
              </a:rPr>
              <a:t>시장·경쟁사·브랜드를 계속 살펴, 매번 더 잘 되는 쪽으로 다듬습니다.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337560"/>
            <a:ext cx="5486400" cy="786384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4F6FB"/>
                </a:solidFill>
                <a:latin typeface="Pretendard"/>
              </a:rPr>
              <a:t>🔍 시장 조사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AEB7C8"/>
                </a:solidFill>
                <a:latin typeface="Pretendard"/>
              </a:rPr>
              <a:t>키워드 검색량·트렌드를 조사해 반응 나올 주제부터 공략합니다.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233672"/>
            <a:ext cx="5486400" cy="786384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4F6FB"/>
                </a:solidFill>
                <a:latin typeface="Pretendard"/>
              </a:rPr>
              <a:t>🎯 경쟁사 조사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AEB7C8"/>
                </a:solidFill>
                <a:latin typeface="Pretendard"/>
              </a:rPr>
              <a:t>잘 나가는 경쟁 계정을 모니터링 — 좋은 건 배우고 빈틈은 파고듭니다.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29783"/>
            <a:ext cx="5486400" cy="786384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4F6FB"/>
                </a:solidFill>
                <a:latin typeface="Pretendard"/>
              </a:rPr>
              <a:t>🧭 브랜드 분석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200" b="0">
                <a:solidFill>
                  <a:srgbClr val="AEB7C8"/>
                </a:solidFill>
                <a:latin typeface="Pretendard"/>
              </a:rPr>
              <a:t>우리 브랜드의 톤·강점에 맞춰 메시지를 조정합니다.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103120"/>
            <a:ext cx="4100362" cy="4206240"/>
          </a:xfrm>
          <a:prstGeom prst="roundRect">
            <a:avLst/>
          </a:prstGeom>
          <a:solidFill>
            <a:srgbClr val="151822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23760" y="2171700"/>
            <a:ext cx="3460282" cy="182880"/>
          </a:xfrm>
          <a:prstGeom prst="roundRect">
            <a:avLst/>
          </a:prstGeom>
          <a:solidFill>
            <a:srgbClr val="0A0C12"/>
          </a:solidFill>
          <a:ln w="6350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3A7"/>
                </a:solidFill>
                <a:latin typeface="Pretendard"/>
              </a:rPr>
              <a:t>pslab — 키워드·시장 조사</a:t>
            </a:r>
          </a:p>
        </p:txBody>
      </p:sp>
      <p:pic>
        <p:nvPicPr>
          <p:cNvPr id="14" name="Picture 13" descr="ch_n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14015"/>
            <a:ext cx="4100362" cy="38953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66560" y="64008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8B93A7"/>
                </a:solidFill>
                <a:latin typeface="Pretendard"/>
              </a:rPr>
              <a:t>실제 대시보드 — 키워드별 검색량·경쟁도를 보고 주제를 고릅니다.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292608"/>
            <a:ext cx="310896" cy="310896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P·S</a:t>
            </a:r>
          </a:p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3291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AEB7C8"/>
                </a:solidFill>
                <a:latin typeface="Georgia"/>
              </a:rPr>
              <a:t>P S L A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740664"/>
            <a:ext cx="256032" cy="25603"/>
          </a:xfrm>
          <a:prstGeom prst="roundRect">
            <a:avLst/>
          </a:prstGeom>
          <a:solidFill>
            <a:srgbClr val="4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6583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D8BFF"/>
                </a:solidFill>
                <a:latin typeface="Pretendard"/>
              </a:rPr>
              <a:t>한 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4F6FB"/>
                </a:solidFill>
                <a:latin typeface="Pretendard"/>
              </a:rPr>
              <a:t>모든 채널이, 이 화면 하나에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10637215" cy="2551157"/>
          </a:xfrm>
          <a:prstGeom prst="roundRect">
            <a:avLst/>
          </a:prstGeom>
          <a:solidFill>
            <a:srgbClr val="151822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34440" y="1897380"/>
            <a:ext cx="9997135" cy="182880"/>
          </a:xfrm>
          <a:prstGeom prst="roundRect">
            <a:avLst/>
          </a:prstGeom>
          <a:solidFill>
            <a:srgbClr val="0A0C12"/>
          </a:solidFill>
          <a:ln w="6350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3A7"/>
                </a:solidFill>
                <a:latin typeface="Pretendard"/>
              </a:rPr>
              <a:t>leejiho-pslab.github.io/pslab — 콘텐츠 관제실</a:t>
            </a:r>
          </a:p>
        </p:txBody>
      </p:sp>
      <p:pic>
        <p:nvPicPr>
          <p:cNvPr id="10" name="Picture 9" descr="band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39696"/>
            <a:ext cx="10637215" cy="2240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715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AEB7C8"/>
                </a:solidFill>
                <a:latin typeface="Pretendard"/>
              </a:rPr>
              <a:t>다섯 개 채널의 상태·예정·성과를 링크 하나로 어디서든 확인합니다. 설치도, 복잡한 로그인도 없습니다.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292608"/>
            <a:ext cx="310896" cy="310896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P·S</a:t>
            </a:r>
          </a:p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3291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AEB7C8"/>
                </a:solidFill>
                <a:latin typeface="Georgia"/>
              </a:rPr>
              <a:t>P S L A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740664"/>
            <a:ext cx="256032" cy="25603"/>
          </a:xfrm>
          <a:prstGeom prst="roundRect">
            <a:avLst/>
          </a:prstGeom>
          <a:solidFill>
            <a:srgbClr val="4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6583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D8BFF"/>
                </a:solidFill>
                <a:latin typeface="Pretendard"/>
              </a:rPr>
              <a:t>안에서는 이렇게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4F6FB"/>
                </a:solidFill>
                <a:latin typeface="Pretendard"/>
              </a:rPr>
              <a:t>콘텐츠를 열면, 안까지 다 보입니다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4196614" cy="4297680"/>
          </a:xfrm>
          <a:prstGeom prst="roundRect">
            <a:avLst/>
          </a:prstGeom>
          <a:solidFill>
            <a:srgbClr val="151822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34440" y="1851660"/>
            <a:ext cx="3556534" cy="182880"/>
          </a:xfrm>
          <a:prstGeom prst="roundRect">
            <a:avLst/>
          </a:prstGeom>
          <a:solidFill>
            <a:srgbClr val="0A0C12"/>
          </a:solidFill>
          <a:ln w="6350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3A7"/>
                </a:solidFill>
                <a:latin typeface="Pretendard"/>
              </a:rPr>
              <a:t>pslab — 콘텐츠 상세</a:t>
            </a:r>
          </a:p>
        </p:txBody>
      </p:sp>
      <p:pic>
        <p:nvPicPr>
          <p:cNvPr id="10" name="Picture 9" descr="ch_n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93976"/>
            <a:ext cx="4196614" cy="39867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0" y="2103120"/>
            <a:ext cx="4572000" cy="640080"/>
          </a:xfrm>
          <a:prstGeom prst="roundRect">
            <a:avLst/>
          </a:prstGeom>
          <a:solidFill>
            <a:srgbClr val="1B202E"/>
          </a:solidFill>
          <a:ln w="9525">
            <a:solidFill>
              <a:srgbClr val="4D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6FB"/>
                </a:solidFill>
                <a:latin typeface="Pretendard"/>
              </a:rPr>
              <a:t>1   채널에서 콘텐츠 클릭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880360"/>
            <a:ext cx="4572000" cy="64008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AEB7C8"/>
                </a:solidFill>
                <a:latin typeface="Pretendard"/>
              </a:rPr>
              <a:t>2   콘텐츠 내용 전체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657600"/>
            <a:ext cx="4572000" cy="64008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AEB7C8"/>
                </a:solidFill>
                <a:latin typeface="Pretendard"/>
              </a:rPr>
              <a:t>3   복사 · 다운로드 · 수정 메뉴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8B93A7"/>
                </a:solidFill>
                <a:latin typeface="Pretendard"/>
              </a:rPr>
              <a:t>채널 이동 → 콘텐츠 클릭 → 상세 내용 → 수정·복사 메뉴까지, 대시보드 안에서 바로 확인·관리합니다.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292608"/>
            <a:ext cx="310896" cy="310896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P·S</a:t>
            </a:r>
          </a:p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3291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AEB7C8"/>
                </a:solidFill>
                <a:latin typeface="Georgia"/>
              </a:rPr>
              <a:t>P S L A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4F6FB"/>
                </a:solidFill>
                <a:latin typeface="Pretendard"/>
              </a:rPr>
              <a:t>인스타그램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D8BFF"/>
                </a:solidFill>
                <a:latin typeface="Pretendard"/>
              </a:rPr>
              <a:t>카드뉴스 · 6장 캐러셀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>
                <a:solidFill>
                  <a:srgbClr val="4D8BFF"/>
                </a:solidFill>
              </a:rPr>
              <a:t>■  </a:t>
            </a:r>
            <a:r>
              <a:rPr sz="1500">
                <a:solidFill>
                  <a:srgbClr val="AEB7C8"/>
                </a:solidFill>
                <a:latin typeface="Pretendard"/>
              </a:rPr>
              <a:t>핵심 인사이트를 저장하고 싶은 6장으로 재구성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>
                <a:solidFill>
                  <a:srgbClr val="4D8BFF"/>
                </a:solidFill>
              </a:rPr>
              <a:t>■  </a:t>
            </a:r>
            <a:r>
              <a:rPr sz="1500">
                <a:solidFill>
                  <a:srgbClr val="AEB7C8"/>
                </a:solidFill>
                <a:latin typeface="Pretendard"/>
              </a:rPr>
              <a:t>첫 장에 강한 후킹 — 넘겨 보게 만듭니다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>
                <a:solidFill>
                  <a:srgbClr val="4D8BFF"/>
                </a:solidFill>
              </a:rPr>
              <a:t>■  </a:t>
            </a:r>
            <a:r>
              <a:rPr sz="1500">
                <a:solidFill>
                  <a:srgbClr val="AEB7C8"/>
                </a:solidFill>
                <a:latin typeface="Pretendard"/>
              </a:rPr>
              <a:t>저장·공유가 늘도록 마지막 장에 결론을 명확히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1208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B93A7"/>
                </a:solidFill>
                <a:latin typeface="Pretendard"/>
              </a:rPr>
              <a:t>대시보드에서는 발행 카드와 참여율·좋아요가 채널 탭에 정리됩니다.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120640" cy="4725077"/>
          </a:xfrm>
          <a:prstGeom prst="roundRect">
            <a:avLst/>
          </a:prstGeom>
          <a:solidFill>
            <a:srgbClr val="151822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0" y="1348739"/>
            <a:ext cx="4480559" cy="182880"/>
          </a:xfrm>
          <a:prstGeom prst="roundRect">
            <a:avLst/>
          </a:prstGeom>
          <a:solidFill>
            <a:srgbClr val="0A0C12"/>
          </a:solidFill>
          <a:ln w="6350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3A7"/>
                </a:solidFill>
                <a:latin typeface="Pretendard"/>
              </a:rPr>
              <a:t>pslab — 인스타그램</a:t>
            </a:r>
          </a:p>
        </p:txBody>
      </p:sp>
      <p:pic>
        <p:nvPicPr>
          <p:cNvPr id="11" name="Picture 10" descr="ch_i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91056"/>
            <a:ext cx="5120640" cy="44141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292608"/>
            <a:ext cx="310896" cy="310896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P·S</a:t>
            </a:r>
          </a:p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3291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AEB7C8"/>
                </a:solidFill>
                <a:latin typeface="Georgia"/>
              </a:rPr>
              <a:t>P S L A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4F6FB"/>
                </a:solidFill>
                <a:latin typeface="Pretendard"/>
              </a:rPr>
              <a:t>네이버 블로그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D8BFF"/>
                </a:solidFill>
                <a:latin typeface="Pretendard"/>
              </a:rPr>
              <a:t>검색 최적화 장문 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>
                <a:solidFill>
                  <a:srgbClr val="4D8BFF"/>
                </a:solidFill>
              </a:rPr>
              <a:t>■  </a:t>
            </a:r>
            <a:r>
              <a:rPr sz="1500">
                <a:solidFill>
                  <a:srgbClr val="AEB7C8"/>
                </a:solidFill>
                <a:latin typeface="Pretendard"/>
              </a:rPr>
              <a:t>키워드 검색량·경쟁도를 조사해 노려볼 주제 선정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>
                <a:solidFill>
                  <a:srgbClr val="4D8BFF"/>
                </a:solidFill>
              </a:rPr>
              <a:t>■  </a:t>
            </a:r>
            <a:r>
              <a:rPr sz="1500">
                <a:solidFill>
                  <a:srgbClr val="AEB7C8"/>
                </a:solidFill>
                <a:latin typeface="Pretendard"/>
              </a:rPr>
              <a:t>검색에 잘 걸리도록 제목·본문을 구조화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>
                <a:solidFill>
                  <a:srgbClr val="4D8BFF"/>
                </a:solidFill>
              </a:rPr>
              <a:t>■  </a:t>
            </a:r>
            <a:r>
              <a:rPr sz="1500">
                <a:solidFill>
                  <a:srgbClr val="AEB7C8"/>
                </a:solidFill>
                <a:latin typeface="Pretendard"/>
              </a:rPr>
              <a:t>블로그 지수를 꾸준히 관리해 노출을 키움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1208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B93A7"/>
                </a:solidFill>
                <a:latin typeface="Pretendard"/>
              </a:rPr>
              <a:t>대시보드에서는 키워드 지수와 블로그 점수가 한눈에 보입니다.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4774130" cy="4846320"/>
          </a:xfrm>
          <a:prstGeom prst="roundRect">
            <a:avLst/>
          </a:prstGeom>
          <a:solidFill>
            <a:srgbClr val="151822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0" y="1348739"/>
            <a:ext cx="4134050" cy="182880"/>
          </a:xfrm>
          <a:prstGeom prst="roundRect">
            <a:avLst/>
          </a:prstGeom>
          <a:solidFill>
            <a:srgbClr val="0A0C12"/>
          </a:solidFill>
          <a:ln w="6350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3A7"/>
                </a:solidFill>
                <a:latin typeface="Pretendard"/>
              </a:rPr>
              <a:t>pslab — 네이버 블로그</a:t>
            </a:r>
          </a:p>
        </p:txBody>
      </p:sp>
      <p:pic>
        <p:nvPicPr>
          <p:cNvPr id="11" name="Picture 10" descr="ch_n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91056"/>
            <a:ext cx="4774130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292608"/>
            <a:ext cx="310896" cy="310896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P·S</a:t>
            </a:r>
          </a:p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3291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AEB7C8"/>
                </a:solidFill>
                <a:latin typeface="Georgia"/>
              </a:rPr>
              <a:t>P S L A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4F6FB"/>
                </a:solidFill>
                <a:latin typeface="Pretendard"/>
              </a:rPr>
              <a:t>구글 블로그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D8BFF"/>
                </a:solidFill>
                <a:latin typeface="Pretendard"/>
              </a:rPr>
              <a:t>정보성 아티클 · SEO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>
                <a:solidFill>
                  <a:srgbClr val="4D8BFF"/>
                </a:solidFill>
              </a:rPr>
              <a:t>■  </a:t>
            </a:r>
            <a:r>
              <a:rPr sz="1500">
                <a:solidFill>
                  <a:srgbClr val="AEB7C8"/>
                </a:solidFill>
                <a:latin typeface="Pretendard"/>
              </a:rPr>
              <a:t>구글 검색까지 노리는 깊이 있는 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>
                <a:solidFill>
                  <a:srgbClr val="4D8BFF"/>
                </a:solidFill>
              </a:rPr>
              <a:t>■  </a:t>
            </a:r>
            <a:r>
              <a:rPr sz="1500">
                <a:solidFill>
                  <a:srgbClr val="AEB7C8"/>
                </a:solidFill>
                <a:latin typeface="Pretendard"/>
              </a:rPr>
              <a:t>대표이미지 + 본문 이미지로 읽기 좋게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>
                <a:solidFill>
                  <a:srgbClr val="4D8BFF"/>
                </a:solidFill>
              </a:rPr>
              <a:t>■  </a:t>
            </a:r>
            <a:r>
              <a:rPr sz="1500">
                <a:solidFill>
                  <a:srgbClr val="AEB7C8"/>
                </a:solidFill>
                <a:latin typeface="Pretendard"/>
              </a:rPr>
              <a:t>해외·전문 검색 유입까지 확장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1208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B93A7"/>
                </a:solidFill>
                <a:latin typeface="Pretendard"/>
              </a:rPr>
              <a:t>대시보드에서는 발행 글과 대표이미지를 바로 확인·관리합니다.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4774130" cy="4846320"/>
          </a:xfrm>
          <a:prstGeom prst="roundRect">
            <a:avLst/>
          </a:prstGeom>
          <a:solidFill>
            <a:srgbClr val="151822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0" y="1348739"/>
            <a:ext cx="4134050" cy="182880"/>
          </a:xfrm>
          <a:prstGeom prst="roundRect">
            <a:avLst/>
          </a:prstGeom>
          <a:solidFill>
            <a:srgbClr val="0A0C12"/>
          </a:solidFill>
          <a:ln w="6350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3A7"/>
                </a:solidFill>
                <a:latin typeface="Pretendard"/>
              </a:rPr>
              <a:t>pslab — 구글 블로그</a:t>
            </a:r>
          </a:p>
        </p:txBody>
      </p:sp>
      <p:pic>
        <p:nvPicPr>
          <p:cNvPr id="11" name="Picture 10" descr="ch_g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91056"/>
            <a:ext cx="4774130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292608"/>
            <a:ext cx="310896" cy="310896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P·S</a:t>
            </a:r>
          </a:p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3291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AEB7C8"/>
                </a:solidFill>
                <a:latin typeface="Georgia"/>
              </a:rPr>
              <a:t>P S L A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4F6FB"/>
                </a:solidFill>
                <a:latin typeface="Pretendard"/>
              </a:rPr>
              <a:t>스레드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D8BFF"/>
                </a:solidFill>
                <a:latin typeface="Pretendard"/>
              </a:rPr>
              <a:t>짧은 대화형 인사이트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>
                <a:solidFill>
                  <a:srgbClr val="4D8BFF"/>
                </a:solidFill>
              </a:rPr>
              <a:t>■  </a:t>
            </a:r>
            <a:r>
              <a:rPr sz="1500">
                <a:solidFill>
                  <a:srgbClr val="AEB7C8"/>
                </a:solidFill>
                <a:latin typeface="Pretendard"/>
              </a:rPr>
              <a:t>실시간 이슈를 가볍고 빠르게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>
                <a:solidFill>
                  <a:srgbClr val="4D8BFF"/>
                </a:solidFill>
              </a:rPr>
              <a:t>■  </a:t>
            </a:r>
            <a:r>
              <a:rPr sz="1500">
                <a:solidFill>
                  <a:srgbClr val="AEB7C8"/>
                </a:solidFill>
                <a:latin typeface="Pretendard"/>
              </a:rPr>
              <a:t>댓글·재게시로 대화를 유도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>
                <a:solidFill>
                  <a:srgbClr val="4D8BFF"/>
                </a:solidFill>
              </a:rPr>
              <a:t>■  </a:t>
            </a:r>
            <a:r>
              <a:rPr sz="1500">
                <a:solidFill>
                  <a:srgbClr val="AEB7C8"/>
                </a:solidFill>
                <a:latin typeface="Pretendard"/>
              </a:rPr>
              <a:t>브랜드를 친근하게 각인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1208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B93A7"/>
                </a:solidFill>
                <a:latin typeface="Pretendard"/>
              </a:rPr>
              <a:t>대시보드에서는 발행 글과 조회·반응이 함께 정리됩니다.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065416" cy="4846320"/>
          </a:xfrm>
          <a:prstGeom prst="roundRect">
            <a:avLst/>
          </a:prstGeom>
          <a:solidFill>
            <a:srgbClr val="151822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0" y="1348739"/>
            <a:ext cx="4425336" cy="182880"/>
          </a:xfrm>
          <a:prstGeom prst="roundRect">
            <a:avLst/>
          </a:prstGeom>
          <a:solidFill>
            <a:srgbClr val="0A0C12"/>
          </a:solidFill>
          <a:ln w="6350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3A7"/>
                </a:solidFill>
                <a:latin typeface="Pretendard"/>
              </a:rPr>
              <a:t>pslab — 스레드</a:t>
            </a:r>
          </a:p>
        </p:txBody>
      </p:sp>
      <p:pic>
        <p:nvPicPr>
          <p:cNvPr id="11" name="Picture 10" descr="ch_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91056"/>
            <a:ext cx="5065416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292608"/>
            <a:ext cx="310896" cy="310896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P·S</a:t>
            </a:r>
          </a:p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3291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AEB7C8"/>
                </a:solidFill>
                <a:latin typeface="Georgia"/>
              </a:rPr>
              <a:t>P S L A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4F6FB"/>
                </a:solidFill>
                <a:latin typeface="Pretendard"/>
              </a:rPr>
              <a:t>유튜브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D8BFF"/>
                </a:solidFill>
                <a:latin typeface="Pretendard"/>
              </a:rPr>
              <a:t>30초 쇼츠 영상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>
                <a:solidFill>
                  <a:srgbClr val="4D8BFF"/>
                </a:solidFill>
              </a:rPr>
              <a:t>■  </a:t>
            </a:r>
            <a:r>
              <a:rPr sz="1500">
                <a:solidFill>
                  <a:srgbClr val="AEB7C8"/>
                </a:solidFill>
                <a:latin typeface="Pretendard"/>
              </a:rPr>
              <a:t>후킹 → 핵심 → 행동유도 3단 구성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>
                <a:solidFill>
                  <a:srgbClr val="4D8BFF"/>
                </a:solidFill>
              </a:rPr>
              <a:t>■  </a:t>
            </a:r>
            <a:r>
              <a:rPr sz="1500">
                <a:solidFill>
                  <a:srgbClr val="AEB7C8"/>
                </a:solidFill>
                <a:latin typeface="Pretendard"/>
              </a:rPr>
              <a:t>배경·자막·음악까지 자동 제작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>
                <a:solidFill>
                  <a:srgbClr val="4D8BFF"/>
                </a:solidFill>
              </a:rPr>
              <a:t>■  </a:t>
            </a:r>
            <a:r>
              <a:rPr sz="1500">
                <a:solidFill>
                  <a:srgbClr val="AEB7C8"/>
                </a:solidFill>
                <a:latin typeface="Pretendard"/>
              </a:rPr>
              <a:t>알고리즘 노출로 신규 도달 확대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1208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B93A7"/>
                </a:solidFill>
                <a:latin typeface="Pretendard"/>
              </a:rPr>
              <a:t>대시보드에서는 쇼츠 영상과 조회수가 채널 탭에 정리됩니다.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065416" cy="4846320"/>
          </a:xfrm>
          <a:prstGeom prst="roundRect">
            <a:avLst/>
          </a:prstGeom>
          <a:solidFill>
            <a:srgbClr val="151822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0" y="1348739"/>
            <a:ext cx="4425336" cy="182880"/>
          </a:xfrm>
          <a:prstGeom prst="roundRect">
            <a:avLst/>
          </a:prstGeom>
          <a:solidFill>
            <a:srgbClr val="0A0C12"/>
          </a:solidFill>
          <a:ln w="6350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3A7"/>
                </a:solidFill>
                <a:latin typeface="Pretendard"/>
              </a:rPr>
              <a:t>pslab — 유튜브</a:t>
            </a:r>
          </a:p>
        </p:txBody>
      </p:sp>
      <p:pic>
        <p:nvPicPr>
          <p:cNvPr id="11" name="Picture 10" descr="ch_y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91056"/>
            <a:ext cx="5065416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292608"/>
            <a:ext cx="310896" cy="310896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P·S</a:t>
            </a:r>
          </a:p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3291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AEB7C8"/>
                </a:solidFill>
                <a:latin typeface="Georgia"/>
              </a:rPr>
              <a:t>P S L A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740664"/>
            <a:ext cx="256032" cy="25603"/>
          </a:xfrm>
          <a:prstGeom prst="roundRect">
            <a:avLst/>
          </a:prstGeom>
          <a:solidFill>
            <a:srgbClr val="4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6583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D8BFF"/>
                </a:solidFill>
                <a:latin typeface="Pretendard"/>
              </a:rPr>
              <a:t>편리함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F4F6FB"/>
                </a:solidFill>
                <a:latin typeface="Pretendard"/>
              </a:rPr>
              <a:t>정해진 시간에,</a:t>
            </a:r>
          </a:p>
          <a:p>
            <a:pPr algn="l">
              <a:lnSpc>
                <a:spcPct val="106000"/>
              </a:lnSpc>
            </a:pPr>
            <a:r>
              <a:rPr sz="4000" b="1">
                <a:solidFill>
                  <a:srgbClr val="F4F6FB"/>
                </a:solidFill>
                <a:latin typeface="Pretendard"/>
              </a:rPr>
              <a:t>알아서 올라갑니다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AEB7C8"/>
                </a:solidFill>
                <a:latin typeface="Pretendard"/>
              </a:rPr>
              <a:t>밥솥에 예약을 걸어두면 아침에 밥이 되어 있는 것처럼, 시간만 정해두면 매일 저녁 6시에 콘텐츠가 스스로 발행됩니다.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931920"/>
            <a:ext cx="3393338" cy="155448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D8BFF"/>
                </a:solidFill>
                <a:latin typeface="Pretendard"/>
              </a:rPr>
              <a:t>예약</a:t>
            </a:r>
          </a:p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F6FB"/>
                </a:solidFill>
                <a:latin typeface="Pretendard"/>
              </a:rPr>
              <a:t>시간만 한 번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50" b="0">
                <a:solidFill>
                  <a:srgbClr val="AEB7C8"/>
                </a:solidFill>
                <a:latin typeface="Pretendard"/>
              </a:rPr>
              <a:t>발행 시각을 정해두면 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3931920"/>
            <a:ext cx="3393338" cy="155448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D8BFF"/>
                </a:solidFill>
                <a:latin typeface="Pretendard"/>
              </a:rPr>
              <a:t>자동</a:t>
            </a:r>
          </a:p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F6FB"/>
                </a:solidFill>
                <a:latin typeface="Pretendard"/>
              </a:rPr>
              <a:t>매일 반복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50" b="0">
                <a:solidFill>
                  <a:srgbClr val="AEB7C8"/>
                </a:solidFill>
                <a:latin typeface="Pretendard"/>
              </a:rPr>
              <a:t>주말·휴일에도 쉬지 않음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1116" y="3931920"/>
            <a:ext cx="3393338" cy="155448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D8BFF"/>
                </a:solidFill>
                <a:latin typeface="Pretendard"/>
              </a:rPr>
              <a:t>안심</a:t>
            </a:r>
          </a:p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F6FB"/>
                </a:solidFill>
                <a:latin typeface="Pretendard"/>
              </a:rPr>
              <a:t>실패하면 알림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50" b="0">
                <a:solidFill>
                  <a:srgbClr val="AEB7C8"/>
                </a:solidFill>
                <a:latin typeface="Pretendard"/>
              </a:rPr>
              <a:t>문제가 생기면 즉시 문자 알림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292608"/>
            <a:ext cx="310896" cy="310896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P·S</a:t>
            </a:r>
          </a:p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3291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AEB7C8"/>
                </a:solidFill>
                <a:latin typeface="Georgia"/>
              </a:rPr>
              <a:t>P S L A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740664"/>
            <a:ext cx="256032" cy="25603"/>
          </a:xfrm>
          <a:prstGeom prst="roundRect">
            <a:avLst/>
          </a:prstGeom>
          <a:solidFill>
            <a:srgbClr val="4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6583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D8BFF"/>
                </a:solidFill>
                <a:latin typeface="Pretendard"/>
              </a:rPr>
              <a:t>성과가 보입니다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F4F6FB"/>
                </a:solidFill>
                <a:latin typeface="Pretendard"/>
              </a:rPr>
              <a:t>무엇이 잘 됐는지,</a:t>
            </a:r>
          </a:p>
          <a:p>
            <a:pPr algn="l">
              <a:lnSpc>
                <a:spcPct val="106000"/>
              </a:lnSpc>
            </a:pPr>
            <a:r>
              <a:rPr sz="3400" b="1">
                <a:solidFill>
                  <a:srgbClr val="F4F6FB"/>
                </a:solidFill>
                <a:latin typeface="Pretendard"/>
              </a:rPr>
              <a:t>한눈에 보입니다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AEB7C8"/>
                </a:solidFill>
                <a:latin typeface="Pretendard"/>
              </a:rPr>
              <a:t>반응이 좋았던 주제·시간대·디자인을 스스로 학습해 다음 콘텐츠에 반영합니다.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49039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4D8BFF"/>
                </a:solidFill>
                <a:latin typeface="Pretendard"/>
              </a:rPr>
              <a:t>166%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822191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AEB7C8"/>
                </a:solidFill>
                <a:latin typeface="Pretendard"/>
              </a:rPr>
              <a:t>가장 반응이 좋았던 콘텐츠의 참여율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07407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4D8BFF"/>
                </a:solidFill>
                <a:latin typeface="Pretendard"/>
              </a:rPr>
              <a:t>21시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480559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AEB7C8"/>
                </a:solidFill>
                <a:latin typeface="Pretendard"/>
              </a:rPr>
              <a:t>반응이 가장 좋은 시간대를 자동 파악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65775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4D8BFF"/>
                </a:solidFill>
                <a:latin typeface="Pretendard"/>
              </a:rPr>
              <a:t>매주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5138927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AEB7C8"/>
                </a:solidFill>
                <a:latin typeface="Pretendard"/>
              </a:rPr>
              <a:t>성과 리포트를 자동으로 정리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54480"/>
            <a:ext cx="3686221" cy="4206240"/>
          </a:xfrm>
          <a:prstGeom prst="roundRect">
            <a:avLst/>
          </a:prstGeom>
          <a:solidFill>
            <a:srgbClr val="151822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0" y="1623060"/>
            <a:ext cx="3046141" cy="182880"/>
          </a:xfrm>
          <a:prstGeom prst="roundRect">
            <a:avLst/>
          </a:prstGeom>
          <a:solidFill>
            <a:srgbClr val="0A0C12"/>
          </a:solidFill>
          <a:ln w="6350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93A7"/>
                </a:solidFill>
                <a:latin typeface="Pretendard"/>
              </a:rPr>
              <a:t>pslab — 성과 현황</a:t>
            </a:r>
          </a:p>
        </p:txBody>
      </p:sp>
      <p:pic>
        <p:nvPicPr>
          <p:cNvPr id="17" name="Picture 16" descr="dash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65376"/>
            <a:ext cx="3686221" cy="38953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292608"/>
            <a:ext cx="310896" cy="310896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P·S</a:t>
            </a:r>
          </a:p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3291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AEB7C8"/>
                </a:solidFill>
                <a:latin typeface="Georgia"/>
              </a:rPr>
              <a:t>P S L A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740664"/>
            <a:ext cx="256032" cy="25603"/>
          </a:xfrm>
          <a:prstGeom prst="round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6583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B454"/>
                </a:solidFill>
                <a:latin typeface="Pretendard"/>
              </a:rPr>
              <a:t>비용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058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4F6FB"/>
                </a:solidFill>
                <a:latin typeface="Pretendard"/>
              </a:rPr>
              <a:t>직원 한 명보다 저렴하게, 5채널 전부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3393338" cy="3566160"/>
          </a:xfrm>
          <a:prstGeom prst="roundRect">
            <a:avLst/>
          </a:prstGeom>
          <a:solidFill>
            <a:srgbClr val="1A1414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5" y="2212848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AEB7C8"/>
                </a:solidFill>
                <a:latin typeface="Pretendard"/>
              </a:rPr>
              <a:t>직원 1명 채용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2542032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9A9A"/>
                </a:solidFill>
                <a:latin typeface="Pretendard"/>
              </a:rPr>
              <a:t>월 350~450만원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3017520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8B93A7"/>
                </a:solidFill>
                <a:latin typeface="Pretendard"/>
              </a:rPr>
              <a:t>급여+4대보험+퇴직+장비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" y="3429000"/>
            <a:ext cx="293613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AEB7C8"/>
                </a:solidFill>
                <a:latin typeface="Pretendard"/>
              </a:rPr>
              <a:t>· 한 사람이 5채널을 다 못함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AEB7C8"/>
                </a:solidFill>
                <a:latin typeface="Pretendard"/>
              </a:rPr>
              <a:t>· 퇴사하면 채널이 멈춤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AEB7C8"/>
                </a:solidFill>
                <a:latin typeface="Pretendard"/>
              </a:rPr>
              <a:t>· 휴가·병가 공백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9178" y="2011680"/>
            <a:ext cx="3393338" cy="3566160"/>
          </a:xfrm>
          <a:prstGeom prst="roundRect">
            <a:avLst/>
          </a:prstGeom>
          <a:solidFill>
            <a:srgbClr val="1A1414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8634" y="2212848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AEB7C8"/>
                </a:solidFill>
                <a:latin typeface="Pretendard"/>
              </a:rPr>
              <a:t>대행사 (5채널)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8634" y="2542032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9A9A"/>
                </a:solidFill>
                <a:latin typeface="Pretendard"/>
              </a:rPr>
              <a:t>월 300~700만원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8634" y="3017520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8B93A7"/>
                </a:solidFill>
                <a:latin typeface="Pretendard"/>
              </a:rPr>
              <a:t>채널마다 따로 비용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8634" y="3429000"/>
            <a:ext cx="293613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AEB7C8"/>
                </a:solidFill>
                <a:latin typeface="Pretendard"/>
              </a:rPr>
              <a:t>· 채널 늘수록 비용 급증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AEB7C8"/>
                </a:solidFill>
                <a:latin typeface="Pretendard"/>
              </a:rPr>
              <a:t>· 내 브랜드 이해도 낮음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AEB7C8"/>
                </a:solidFill>
                <a:latin typeface="Pretendard"/>
              </a:rPr>
              <a:t>· 영상은 별도 견적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1116" y="1874519"/>
            <a:ext cx="3393338" cy="3794760"/>
          </a:xfrm>
          <a:prstGeom prst="roundRect">
            <a:avLst/>
          </a:prstGeom>
          <a:solidFill>
            <a:srgbClr val="0D1A2B"/>
          </a:solidFill>
          <a:ln w="15875">
            <a:solidFill>
              <a:srgbClr val="4D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8860" y="2084831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4D8BFF"/>
                </a:solidFill>
                <a:latin typeface="Pretendard"/>
              </a:rPr>
              <a:t>추천 · 이 솔루션 · PSLAB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8860" y="2468880"/>
            <a:ext cx="293613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4F6FB"/>
                </a:solidFill>
                <a:latin typeface="Pretendard"/>
              </a:rPr>
              <a:t>월 200만원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8860" y="3154680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3A7"/>
                </a:solidFill>
                <a:latin typeface="Pretendard"/>
              </a:rPr>
              <a:t>정액 · 5채널 전부 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8860" y="3611880"/>
            <a:ext cx="293613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DFE7F5"/>
                </a:solidFill>
                <a:latin typeface="Pretendard"/>
              </a:rPr>
              <a:t>✓ 인스타·네이버·구글·스레드·유튜브 전부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FE7F5"/>
                </a:solidFill>
                <a:latin typeface="Pretendard"/>
              </a:rPr>
              <a:t>✓ 조사·기획·글·이미지·영상까지 자동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FE7F5"/>
                </a:solidFill>
                <a:latin typeface="Pretendard"/>
              </a:rPr>
              <a:t>✓ 24시간 · 사람 없이 · 안 멈춤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292608"/>
            <a:ext cx="310896" cy="310896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P·S</a:t>
            </a:r>
          </a:p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3291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AEB7C8"/>
                </a:solidFill>
                <a:latin typeface="Georgia"/>
              </a:rPr>
              <a:t>P S L A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740664"/>
            <a:ext cx="256032" cy="25603"/>
          </a:xfrm>
          <a:prstGeom prst="round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6583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B454"/>
                </a:solidFill>
                <a:latin typeface="Pretendard"/>
              </a:rPr>
              <a:t>돈으로 환산하면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F4F6FB"/>
                </a:solidFill>
                <a:latin typeface="Pretendard"/>
              </a:rPr>
              <a:t>월 200만원으로,</a:t>
            </a:r>
          </a:p>
          <a:p>
            <a:pPr algn="l">
              <a:lnSpc>
                <a:spcPct val="106000"/>
              </a:lnSpc>
            </a:pPr>
            <a:r>
              <a:rPr sz="3400" b="1">
                <a:solidFill>
                  <a:srgbClr val="F4F6FB"/>
                </a:solidFill>
                <a:latin typeface="Pretendard"/>
              </a:rPr>
              <a:t>이만큼을 대신합니다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4F6FB"/>
                </a:solidFill>
                <a:latin typeface="Pretendard"/>
              </a:rPr>
              <a:t>사람 1명 인건비 대체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1810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8B93A7"/>
                </a:solidFill>
                <a:latin typeface="Pretendard"/>
              </a:rPr>
              <a:t>조사·기획·제작·업로드를 대신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880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900" b="1">
                <a:solidFill>
                  <a:srgbClr val="4D8BFF"/>
                </a:solidFill>
                <a:latin typeface="Pretendard"/>
              </a:rPr>
              <a:t>월 400만원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383280"/>
            <a:ext cx="6400800" cy="9525"/>
          </a:xfrm>
          <a:prstGeom prst="rect">
            <a:avLst/>
          </a:prstGeom>
          <a:solidFill>
            <a:srgbClr val="2A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4728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4F6FB"/>
                </a:solidFill>
                <a:latin typeface="Pretendard"/>
              </a:rPr>
              <a:t>대행사 5채널 대체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8503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8B93A7"/>
                </a:solidFill>
                <a:latin typeface="Pretendard"/>
              </a:rPr>
              <a:t>채널별 대행비 절감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4472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900" b="1">
                <a:solidFill>
                  <a:srgbClr val="4D8BFF"/>
                </a:solidFill>
                <a:latin typeface="Pretendard"/>
              </a:rPr>
              <a:t>월 300만원+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950208"/>
            <a:ext cx="6400800" cy="9525"/>
          </a:xfrm>
          <a:prstGeom prst="rect">
            <a:avLst/>
          </a:prstGeom>
          <a:solidFill>
            <a:srgbClr val="2A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14215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4F6FB"/>
                </a:solidFill>
                <a:latin typeface="Pretendard"/>
              </a:rPr>
              <a:t>회수되는 내 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51959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8B93A7"/>
                </a:solidFill>
                <a:latin typeface="Pretendard"/>
              </a:rPr>
              <a:t>주 10시간 → 본업에 집중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4014215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900" b="1">
                <a:solidFill>
                  <a:srgbClr val="4D8BFF"/>
                </a:solidFill>
                <a:latin typeface="Pretendard"/>
              </a:rPr>
              <a:t>월 40시간+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517136"/>
            <a:ext cx="6400800" cy="9525"/>
          </a:xfrm>
          <a:prstGeom prst="rect">
            <a:avLst/>
          </a:prstGeom>
          <a:solidFill>
            <a:srgbClr val="2A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8114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4F6FB"/>
                </a:solidFill>
                <a:latin typeface="Pretendard"/>
              </a:rPr>
              <a:t>쌓이는 콘텐츠 자산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1888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8B93A7"/>
                </a:solidFill>
                <a:latin typeface="Pretendard"/>
              </a:rPr>
              <a:t>검색에 남는 영구 자산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458114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900" b="1">
                <a:solidFill>
                  <a:srgbClr val="4D8BFF"/>
                </a:solidFill>
                <a:latin typeface="Pretendard"/>
              </a:rPr>
              <a:t>연 700개+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084064"/>
            <a:ext cx="6400800" cy="9525"/>
          </a:xfrm>
          <a:prstGeom prst="rect">
            <a:avLst/>
          </a:prstGeom>
          <a:solidFill>
            <a:srgbClr val="2A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5257800"/>
            <a:ext cx="6400800" cy="640080"/>
          </a:xfrm>
          <a:prstGeom prst="roundRect">
            <a:avLst/>
          </a:prstGeom>
          <a:solidFill>
            <a:srgbClr val="101A2E"/>
          </a:solidFill>
          <a:ln w="9525">
            <a:solidFill>
              <a:srgbClr val="4D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6FB"/>
                </a:solidFill>
                <a:latin typeface="Pretendard"/>
              </a:rPr>
              <a:t>받는 가치 (월 환산)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533095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>
                <a:solidFill>
                  <a:srgbClr val="4D8BFF"/>
                </a:solidFill>
                <a:latin typeface="Pretendard"/>
              </a:rPr>
              <a:t>700만원+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2377440"/>
            <a:ext cx="3657600" cy="3200400"/>
          </a:xfrm>
          <a:prstGeom prst="roundRect">
            <a:avLst/>
          </a:prstGeom>
          <a:solidFill>
            <a:srgbClr val="1B202E"/>
          </a:solidFill>
          <a:ln w="12700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606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AEB7C8"/>
                </a:solidFill>
                <a:latin typeface="Pretendard"/>
              </a:rPr>
              <a:t>내는 비용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9260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F4F6FB"/>
                </a:solidFill>
                <a:latin typeface="Pretendard"/>
              </a:rPr>
              <a:t>월 200만원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611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8B93A7"/>
                </a:solidFill>
                <a:latin typeface="Pretendard"/>
              </a:rPr>
              <a:t>정액 · 5채널 전부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16052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>
                <a:solidFill>
                  <a:srgbClr val="FFB454"/>
                </a:solidFill>
                <a:latin typeface="Pretendard"/>
              </a:rPr>
              <a:t>3배+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074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AEB7C8"/>
                </a:solidFill>
                <a:latin typeface="Pretendard"/>
              </a:rPr>
              <a:t>낸 비용 대비 돌아오는 가치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292608"/>
            <a:ext cx="310896" cy="310896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P·S</a:t>
            </a:r>
          </a:p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3291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AEB7C8"/>
                </a:solidFill>
                <a:latin typeface="Georgia"/>
              </a:rPr>
              <a:t>P S L A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740664"/>
            <a:ext cx="256032" cy="25603"/>
          </a:xfrm>
          <a:prstGeom prst="roundRect">
            <a:avLst/>
          </a:prstGeom>
          <a:solidFill>
            <a:srgbClr val="4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6583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D8BFF"/>
                </a:solidFill>
                <a:latin typeface="Pretendard"/>
              </a:rPr>
              <a:t>지속의 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28016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4000" b="1">
                <a:solidFill>
                  <a:srgbClr val="F4F6FB"/>
                </a:solidFill>
                <a:latin typeface="Pretendard"/>
              </a:rPr>
              <a:t>하루치가 아니라,</a:t>
            </a:r>
          </a:p>
          <a:p>
            <a:pPr algn="ctr">
              <a:lnSpc>
                <a:spcPct val="106000"/>
              </a:lnSpc>
            </a:pPr>
            <a:r>
              <a:rPr sz="4000" b="1">
                <a:solidFill>
                  <a:srgbClr val="F4F6FB"/>
                </a:solidFill>
                <a:latin typeface="Pretendard"/>
              </a:rPr>
              <a:t>1년치가 쌓입니다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01752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AEB7C8"/>
                </a:solidFill>
                <a:latin typeface="Pretendard"/>
              </a:rPr>
              <a:t>매일 벽돌 한 장은 작아 보입니다. 하지만 1년이면 건물이 됩니다. 멈추지 않는 것이 가장 강력한 무기입니다.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40233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>
                <a:solidFill>
                  <a:srgbClr val="F4F6FB"/>
                </a:solidFill>
                <a:latin typeface="Pretendard"/>
              </a:rPr>
              <a:t>365일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4892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AEB7C8"/>
                </a:solidFill>
                <a:latin typeface="Pretendard"/>
              </a:rPr>
              <a:t>쉬지 않고 쌓이는 콘텐츠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9927" y="40233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>
                <a:solidFill>
                  <a:srgbClr val="F4F6FB"/>
                </a:solidFill>
                <a:latin typeface="Pretendard"/>
              </a:rPr>
              <a:t>5채널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9927" y="4892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AEB7C8"/>
                </a:solidFill>
                <a:latin typeface="Pretendard"/>
              </a:rPr>
              <a:t>동시에 함께 성장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7527" y="40233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>
                <a:solidFill>
                  <a:srgbClr val="F4F6FB"/>
                </a:solidFill>
                <a:latin typeface="Pretendard"/>
              </a:rPr>
              <a:t>0회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7527" y="4892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AEB7C8"/>
                </a:solidFill>
                <a:latin typeface="Pretendard"/>
              </a:rPr>
              <a:t>사람이 멈추는 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292608"/>
            <a:ext cx="310896" cy="310896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P·S</a:t>
            </a:r>
          </a:p>
          <a:p>
            <a:pPr algn="ctr">
              <a:lnSpc>
                <a:spcPct val="85000"/>
              </a:lnSpc>
            </a:pPr>
            <a:r>
              <a:rPr sz="650" b="1">
                <a:solidFill>
                  <a:srgbClr val="F4F6FB"/>
                </a:solidFill>
                <a:latin typeface="Georgia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3291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AEB7C8"/>
                </a:solidFill>
                <a:latin typeface="Georgia"/>
              </a:rPr>
              <a:t>P S L A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740664"/>
            <a:ext cx="256032" cy="25603"/>
          </a:xfrm>
          <a:prstGeom prst="roundRect">
            <a:avLst/>
          </a:prstGeom>
          <a:solidFill>
            <a:srgbClr val="4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65836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D8BFF"/>
                </a:solidFill>
                <a:latin typeface="Pretendard"/>
              </a:rPr>
              <a:t>강력한 이점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F4F6FB"/>
                </a:solidFill>
                <a:latin typeface="Pretendard"/>
              </a:rPr>
              <a:t>검색과 AI가,</a:t>
            </a:r>
          </a:p>
          <a:p>
            <a:pPr algn="l">
              <a:lnSpc>
                <a:spcPct val="106000"/>
              </a:lnSpc>
            </a:pPr>
            <a:r>
              <a:rPr sz="3800" b="1">
                <a:solidFill>
                  <a:srgbClr val="F4F6FB"/>
                </a:solidFill>
                <a:latin typeface="Pretendard"/>
              </a:rPr>
              <a:t>손님을 데려옵니다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AEB7C8"/>
                </a:solidFill>
                <a:latin typeface="Pretendard"/>
              </a:rPr>
              <a:t>콘텐츠가 쌓인다는 건, 인터넷 곳곳에 내 가게 간판을 세우는 것과 같습니다. 광고비를 쓰지 않아도 사람들이 알아서 찾아옵니다.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657600"/>
            <a:ext cx="5181447" cy="173736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D8BFF"/>
                </a:solidFill>
                <a:latin typeface="Pretendard"/>
              </a:rPr>
              <a:t>지금까지 · 검색(SEO)</a:t>
            </a:r>
          </a:p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F6FB"/>
                </a:solidFill>
                <a:latin typeface="Pretendard"/>
              </a:rPr>
              <a:t>검색해서 찾아옵니다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50" b="0">
                <a:solidFill>
                  <a:srgbClr val="AEB7C8"/>
                </a:solidFill>
                <a:latin typeface="Pretendard"/>
              </a:rPr>
              <a:t>글과 영상이 많아질수록 네이버·구글·유튜브 검색에 더 자주 노출됩니다. 광고는 끄면 끝이지만, 콘텐츠는 남아 계속 손님을 데려옵니다.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3657600"/>
            <a:ext cx="5181447" cy="173736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4D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Pretendard"/>
              </a:rPr>
              <a:t>앞으로 · AI 추천(GEO)</a:t>
            </a:r>
          </a:p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F6FB"/>
                </a:solidFill>
                <a:latin typeface="Pretendard"/>
              </a:rPr>
              <a:t>AI가 추천해 줍니다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50" b="0">
                <a:solidFill>
                  <a:srgbClr val="AEB7C8"/>
                </a:solidFill>
                <a:latin typeface="Pretendard"/>
              </a:rPr>
              <a:t>이제는 챗봇에게 '추천해줘'라고 묻습니다. 여러 채널에 일관된 콘텐츠가 쌓이면, AI가 우리 브랜드를 더 자주 소개합니다.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778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B93A7"/>
                </a:solidFill>
                <a:latin typeface="Pretendard"/>
              </a:rPr>
              <a:t>먼저 콘텐츠를 쌓은 브랜드가, 검색과 AI 시대를 함께 선점합니다.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92927" y="1097280"/>
            <a:ext cx="1005840" cy="100584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sz="2100" b="1">
                <a:solidFill>
                  <a:srgbClr val="F4F6FB"/>
                </a:solidFill>
                <a:latin typeface="Georgia"/>
              </a:rPr>
              <a:t>P.S</a:t>
            </a:r>
          </a:p>
          <a:p>
            <a:pPr algn="ctr">
              <a:lnSpc>
                <a:spcPct val="95000"/>
              </a:lnSpc>
            </a:pPr>
            <a:r>
              <a:rPr sz="2100" b="1">
                <a:solidFill>
                  <a:srgbClr val="F4F6FB"/>
                </a:solidFill>
                <a:latin typeface="Georgia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33172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4000" b="1">
                <a:solidFill>
                  <a:srgbClr val="F4F6FB"/>
                </a:solidFill>
                <a:latin typeface="Pretendard"/>
              </a:rPr>
              <a:t>당신의 브랜드는,</a:t>
            </a:r>
          </a:p>
          <a:p>
            <a:pPr algn="ctr">
              <a:lnSpc>
                <a:spcPct val="106000"/>
              </a:lnSpc>
            </a:pPr>
            <a:r>
              <a:rPr sz="4000" b="1">
                <a:solidFill>
                  <a:srgbClr val="F4F6FB"/>
                </a:solidFill>
                <a:latin typeface="Pretendard"/>
              </a:rPr>
              <a:t>자는 동안에도 자랍니다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114800"/>
            <a:ext cx="3393338" cy="118872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ctr">
              <a:lnSpc>
                <a:spcPct val="112000"/>
              </a:lnSpc>
            </a:pPr>
            <a:r>
              <a:rPr sz="1700" b="1">
                <a:solidFill>
                  <a:srgbClr val="4D8BFF"/>
                </a:solidFill>
                <a:latin typeface="Pretendard"/>
              </a:rPr>
              <a:t>월 200만원으로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50" b="0">
                <a:solidFill>
                  <a:srgbClr val="AEB7C8"/>
                </a:solidFill>
                <a:latin typeface="Pretendard"/>
              </a:rPr>
              <a:t>사람 한 명 몫을 대신하고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4114800"/>
            <a:ext cx="3393338" cy="118872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ctr">
              <a:lnSpc>
                <a:spcPct val="112000"/>
              </a:lnSpc>
            </a:pPr>
            <a:r>
              <a:rPr sz="1700" b="1">
                <a:solidFill>
                  <a:srgbClr val="4D8BFF"/>
                </a:solidFill>
                <a:latin typeface="Pretendard"/>
              </a:rPr>
              <a:t>5채널이 매일 쌓이고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50" b="0">
                <a:solidFill>
                  <a:srgbClr val="AEB7C8"/>
                </a:solidFill>
                <a:latin typeface="Pretendard"/>
              </a:rPr>
              <a:t>조사·최적화까지 자동으로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1116" y="4114800"/>
            <a:ext cx="3393338" cy="1188720"/>
          </a:xfrm>
          <a:prstGeom prst="roundRect">
            <a:avLst/>
          </a:prstGeom>
          <a:solidFill>
            <a:srgbClr val="151822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64592"/>
          <a:lstStyle/>
          <a:p>
            <a:pPr algn="ctr">
              <a:lnSpc>
                <a:spcPct val="112000"/>
              </a:lnSpc>
            </a:pPr>
            <a:r>
              <a:rPr sz="1700" b="1">
                <a:solidFill>
                  <a:srgbClr val="4D8BFF"/>
                </a:solidFill>
                <a:latin typeface="Pretendard"/>
              </a:rPr>
              <a:t>검색·AI가 데려옵니다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350" b="0">
                <a:solidFill>
                  <a:srgbClr val="AEB7C8"/>
                </a:solidFill>
                <a:latin typeface="Pretendard"/>
              </a:rPr>
              <a:t>광고 없이 손님이 찾아옵니다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AEB7C8"/>
                </a:solidFill>
                <a:latin typeface="Pretendard"/>
              </a:rPr>
              <a:t>● PSLAB · SNS 채널 자동화 솔루션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