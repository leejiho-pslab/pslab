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embeddedFontLst>
    <p:embeddedFont>
      <p:font typeface="Pretendard"/>
      <p:regular r:id="rIdFont1"/>
      <p:bold r:id="rIdFont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528919" y="1051560"/>
            <a:ext cx="1133856" cy="1133856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sz="2400" b="1">
                <a:solidFill>
                  <a:srgbClr val="F4F6FB"/>
                </a:solidFill>
                <a:latin typeface="Georgia"/>
              </a:rPr>
              <a:t>P.S</a:t>
            </a:r>
          </a:p>
          <a:p>
            <a:pPr algn="ctr">
              <a:lnSpc>
                <a:spcPct val="95000"/>
              </a:lnSpc>
            </a:pPr>
            <a:r>
              <a:rPr sz="240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957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S N S   채 널   자 동 화   솔 루 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834640"/>
            <a:ext cx="1219169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600" b="1">
                <a:solidFill>
                  <a:srgbClr val="F4F6FB"/>
                </a:solidFill>
                <a:latin typeface="Pretendard"/>
              </a:rPr>
              <a:t>매일 올리지 않아도,</a:t>
            </a:r>
          </a:p>
          <a:p>
            <a:pPr algn="ctr">
              <a:lnSpc>
                <a:spcPct val="106000"/>
              </a:lnSpc>
            </a:pPr>
            <a:r>
              <a:rPr sz="4600" b="1">
                <a:solidFill>
                  <a:srgbClr val="F4F6FB"/>
                </a:solidFill>
                <a:latin typeface="Pretendard"/>
              </a:rPr>
              <a:t>매일 쌓입니다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Pretendard"/>
              </a:rPr>
              <a:t>다섯 개의 채널을 한 번에, 사람 손 없이 자동으로 운영합니다.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1389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4F6FB"/>
                </a:solidFill>
                <a:latin typeface="Pretendard"/>
              </a:rPr>
              <a:t>인스타그램    ·    네이버 블로그    ·    구글 블로그    ·    스레드    ·    유튜브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0644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AEB7C8"/>
                </a:solidFill>
                <a:latin typeface="Pretendard"/>
              </a:rPr>
              <a:t>● 실제 운영 예시 · PSLAB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왜 온라인 채널인가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손님은 이미,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온라인에서 우리를 찾습니다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Pretendard"/>
              </a:rPr>
              <a:t>매장에 오기 전에 먼저 검색하는 시대. 그 수요는 우리 브랜드 키워드에서 이미 숫자로 나타납니다.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Pretendard"/>
              </a:rPr>
              <a:t>90,527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Pretendard"/>
              </a:rPr>
              <a:t>#마케팅인사이트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693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Pretendard"/>
              </a:rPr>
              <a:t>70,479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Pretendard"/>
              </a:rPr>
              <a:t>#퍼포먼스마케팅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Pretendard"/>
              </a:rPr>
              <a:t>63,725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Pretendard"/>
              </a:rPr>
              <a:t>#업계비하인드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26601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Pretendard"/>
              </a:rPr>
              <a:t>41,224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Pretendard"/>
              </a:rPr>
              <a:t>#마케팅전략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월 검색 지수 · 실제 대시보드의 키워드 조사 데이터 (네이버 연동 시 실측 반영)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257800"/>
            <a:ext cx="5204307" cy="10058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🔎 이 검색이 곧 손님입니다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사람들이 찾는 5개 채널에 콘텐츠가 있으면, 광고 없이 찾아옵니다.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5257800"/>
            <a:ext cx="5204307" cy="10058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🤝 살아있는 채널 = 신뢰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꾸준히 올라오는 채널은 그 자체로 '믿을 만한 브랜드'라는 신호입니다.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그런데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사장님은 사업만 하기에도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이미 바쁩니다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Pretendard"/>
              </a:rPr>
              <a:t>요즘은 채널 하나로 부족합니다. 채널 다섯 곳에 매일 글을 올리는 일은, 매일 아침 가게 문 다섯 개를 직접 여는 것과 같습니다.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Pretendard"/>
              </a:rPr>
              <a:t>5개 채널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매일 올려야 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Pretendard"/>
              </a:rPr>
              <a:t>쉬는 날 없이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주말·휴일에도 반복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1116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Pretendard"/>
              </a:rPr>
              <a:t>글·사진·영상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매번 새로 제작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지금의 현실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Pretendard"/>
              </a:rPr>
              <a:t>그래서 대부분,</a:t>
            </a:r>
          </a:p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Pretendard"/>
              </a:rPr>
              <a:t>셋 중 하나가 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하나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사람을 씁니다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직원이나 대행사에 맡깁니다. 매달 수백만 원이 고정으로 나갑니다.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둘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며칠 하다 멈춥니다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바빠지면 손을 놓습니다. 채널은 몇 주째 방치됩니다.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셋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시작을 못 합니다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'나중에'가 반복됩니다. 경쟁사가 앞서가는 걸 지켜만 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우리의 약속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이 세 가지 걱정을,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한 번에 없앱니다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안 올려도 올라갑니다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사람이 없어도 매일 자동 발행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멈추지 않습니다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24시간 쉬지 않고 자동 운영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지금 시작합니다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세팅만 하면 오늘부터 가동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어떻게 돌아가나요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한 바퀴가 저절로 도는, 네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Pretendard"/>
              </a:rPr>
              <a:t>사람은 처음에 방향만 정해주면 됩니다. 그다음부터는 이 네 단계가 매일 스스로 반복됩니다.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STEP 1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Pretendard"/>
              </a:rPr>
              <a:t>조사 · 기획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Pretendard"/>
              </a:rPr>
              <a:t>시장·경쟁사·키워드를 살펴 반응 나올 주제를 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835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STEP 2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Pretendard"/>
              </a:rPr>
              <a:t>글·이미지·영상 제작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Pretendard"/>
              </a:rPr>
              <a:t>전문가 말투의 글과 카드·쇼츠를 자동으로 만듭니다.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STEP 3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Pretendard"/>
              </a:rPr>
              <a:t>5채널 동시 발행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Pretendard"/>
              </a:rPr>
              <a:t>매일 정해진 시각에 다섯 채널로 한 번에.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027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STEP 4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Pretendard"/>
              </a:rPr>
              <a:t>성과 학습 · 최적화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Pretendard"/>
              </a:rPr>
              <a:t>반응을 배워 다음 기획을 더 정교하게 다듬습니다.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4D8BFF"/>
                </a:solidFill>
                <a:latin typeface="Pretendard"/>
              </a:rPr>
              <a:t>↻  다시 1번으로 · 매일 자동 반복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Pretendard"/>
              </a:rPr>
              <a:t>핵심 차별점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그냥 올리기만 하지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51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Pretendard"/>
              </a:rPr>
              <a:t>시장·경쟁사·브랜드를 계속 살펴, 매번 더 잘 되는 쪽으로 다듬습니다.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337560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🔍 시장 조사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Pretendard"/>
              </a:rPr>
              <a:t>키워드 검색량·트렌드를 조사해 반응 나올 주제부터 공략합니다.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33672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🎯 경쟁사 조사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Pretendard"/>
              </a:rPr>
              <a:t>잘 나가는 경쟁 계정을 모니터링 — 좋은 건 배우고 빈틈은 파고듭니다.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9783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🧭 브랜드 분석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Pretendard"/>
              </a:rPr>
              <a:t>우리 브랜드의 톤·강점에 맞춰 메시지를 조정합니다.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103120"/>
            <a:ext cx="4100362" cy="420624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23760" y="2171700"/>
            <a:ext cx="3460282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키워드·시장 조사</a:t>
            </a:r>
          </a:p>
        </p:txBody>
      </p:sp>
      <p:pic>
        <p:nvPicPr>
          <p:cNvPr id="14" name="Picture 13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14015"/>
            <a:ext cx="4100362" cy="38953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66560" y="64008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실제 대시보드 — 키워드별 검색량·경쟁도를 보고 주제를 고릅니다.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한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모든 채널이, 이 화면 하나에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637215" cy="2551157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34440" y="1897380"/>
            <a:ext cx="9997135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leejiho-pslab.github.io/pslab — 콘텐츠 관제실</a:t>
            </a:r>
          </a:p>
        </p:txBody>
      </p:sp>
      <p:pic>
        <p:nvPicPr>
          <p:cNvPr id="10" name="Picture 9" descr="band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9696"/>
            <a:ext cx="10637215" cy="2240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다섯 개 채널의 상태·예정·성과를 링크 하나로 어디서든 확인합니다. 설치도, 복잡한 로그인도 없습니다.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안에서는 이렇게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4F6FB"/>
                </a:solidFill>
                <a:latin typeface="Pretendard"/>
              </a:rPr>
              <a:t>콘텐츠를 열면, 안까지 다 보입니다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4196614" cy="429768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34440" y="1851660"/>
            <a:ext cx="3556534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콘텐츠 상세</a:t>
            </a:r>
          </a:p>
        </p:txBody>
      </p:sp>
      <p:pic>
        <p:nvPicPr>
          <p:cNvPr id="10" name="Picture 9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3976"/>
            <a:ext cx="4196614" cy="39867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0" y="2103120"/>
            <a:ext cx="4572000" cy="640080"/>
          </a:xfrm>
          <a:prstGeom prst="roundRect">
            <a:avLst/>
          </a:prstGeom>
          <a:solidFill>
            <a:srgbClr val="1B202E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1   채널에서 콘텐츠 클릭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880360"/>
            <a:ext cx="4572000" cy="6400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EB7C8"/>
                </a:solidFill>
                <a:latin typeface="Pretendard"/>
              </a:rPr>
              <a:t>2   콘텐츠 내용 전체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657600"/>
            <a:ext cx="4572000" cy="6400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EB7C8"/>
                </a:solidFill>
                <a:latin typeface="Pretendard"/>
              </a:rPr>
              <a:t>3   복사 · 다운로드 · 수정 메뉴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8B93A7"/>
                </a:solidFill>
                <a:latin typeface="Pretendard"/>
              </a:rPr>
              <a:t>채널 이동 → 콘텐츠 클릭 → 상세 내용 → 수정·복사 메뉴까지, 대시보드 안에서 바로 확인·관리합니다.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인스타그램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Pretendard"/>
              </a:rPr>
              <a:t>카드뉴스 · 6장 캐러셀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핵심 인사이트를 저장하고 싶은 6장으로 재구성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첫 장에 강한 후킹 — 넘겨 보게 만듭니다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저장·공유가 늘도록 마지막 장에 결론을 명확히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대시보드에서는 발행 카드와 참여율·좋아요가 채널 탭에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120640" cy="4725077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80559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인스타그램</a:t>
            </a:r>
          </a:p>
        </p:txBody>
      </p:sp>
      <p:pic>
        <p:nvPicPr>
          <p:cNvPr id="11" name="Picture 10" descr="ch_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120640" cy="44141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네이버 블로그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Pretendard"/>
              </a:rPr>
              <a:t>검색 최적화 장문 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키워드 검색량·경쟁도를 조사해 노려볼 주제 선정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검색에 잘 걸리도록 제목·본문을 구조화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블로그 지수를 꾸준히 관리해 노출을 키움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대시보드에서는 키워드 지수와 블로그 점수가 한눈에 보입니다.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4774130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134050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네이버 블로그</a:t>
            </a:r>
          </a:p>
        </p:txBody>
      </p:sp>
      <p:pic>
        <p:nvPicPr>
          <p:cNvPr id="11" name="Picture 10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477413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구글 블로그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Pretendard"/>
              </a:rPr>
              <a:t>정보성 아티클 · SEO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구글 검색까지 노리는 깊이 있는 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대표이미지 + 본문 이미지로 읽기 좋게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해외·전문 검색 유입까지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대시보드에서는 발행 글과 대표이미지를 바로 확인·관리합니다.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4774130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134050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구글 블로그</a:t>
            </a:r>
          </a:p>
        </p:txBody>
      </p:sp>
      <p:pic>
        <p:nvPicPr>
          <p:cNvPr id="11" name="Picture 10" descr="ch_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477413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스레드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Pretendard"/>
              </a:rPr>
              <a:t>짧은 대화형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실시간 이슈를 가볍고 빠르게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댓글·재게시로 대화를 유도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브랜드를 친근하게 각인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대시보드에서는 발행 글과 조회·반응이 함께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065416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25336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스레드</a:t>
            </a:r>
          </a:p>
        </p:txBody>
      </p:sp>
      <p:pic>
        <p:nvPicPr>
          <p:cNvPr id="11" name="Picture 10" descr="ch_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065416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유튜브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Pretendard"/>
              </a:rPr>
              <a:t>30초 쇼츠 영상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후킹 → 핵심 → 행동유도 3단 구성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배경·자막·음악까지 자동 제작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Pretendard"/>
              </a:rPr>
              <a:t>알고리즘 노출로 신규 도달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대시보드에서는 쇼츠 영상과 조회수가 채널 탭에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065416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25336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유튜브</a:t>
            </a:r>
          </a:p>
        </p:txBody>
      </p:sp>
      <p:pic>
        <p:nvPicPr>
          <p:cNvPr id="11" name="Picture 10" descr="ch_y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065416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편리함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정해진 시간에,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알아서 올라갑니다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Pretendard"/>
              </a:rPr>
              <a:t>밥솥에 예약을 걸어두면 아침에 밥이 되어 있는 것처럼, 시간만 정해두면 매일 저녁 6시에 콘텐츠가 스스로 발행됩니다.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예약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시간만 한 번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발행 시각을 정해두면 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자동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매일 반복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주말·휴일에도 쉬지 않음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1116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안심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실패하면 알림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문제가 생기면 즉시 문자 알림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성과가 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무엇이 잘 됐는지,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한눈에 보입니다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Pretendard"/>
              </a:rPr>
              <a:t>반응이 좋았던 주제·시간대·디자인을 스스로 학습해 다음 콘텐츠에 반영합니다.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4903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Pretendard"/>
              </a:rPr>
              <a:t>166%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822191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가장 반응이 좋았던 콘텐츠의 참여율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Pretendard"/>
              </a:rPr>
              <a:t>21시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48055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반응이 가장 좋은 시간대를 자동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65775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Pretendard"/>
              </a:rPr>
              <a:t>매주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138927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성과 리포트를 자동으로 정리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54480"/>
            <a:ext cx="3686221" cy="420624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623060"/>
            <a:ext cx="3046141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Pretendard"/>
              </a:rPr>
              <a:t>pslab — 성과 현황</a:t>
            </a:r>
          </a:p>
        </p:txBody>
      </p:sp>
      <p:pic>
        <p:nvPicPr>
          <p:cNvPr id="17" name="Picture 16" descr="dash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65376"/>
            <a:ext cx="3686221" cy="38953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Pretendard"/>
              </a:rPr>
              <a:t>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4F6FB"/>
                </a:solidFill>
                <a:latin typeface="Pretendard"/>
              </a:rPr>
              <a:t>직원 한 명보다 저렴하게, 5채널 전부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93338" cy="3566160"/>
          </a:xfrm>
          <a:prstGeom prst="roundRect">
            <a:avLst/>
          </a:prstGeom>
          <a:solidFill>
            <a:srgbClr val="1A1414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2212848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AEB7C8"/>
                </a:solidFill>
                <a:latin typeface="Pretendard"/>
              </a:rPr>
              <a:t>직원 1명 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2542032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9A9A"/>
                </a:solidFill>
                <a:latin typeface="Pretendard"/>
              </a:rPr>
              <a:t>월 350~450만원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01752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3A7"/>
                </a:solidFill>
                <a:latin typeface="Pretendard"/>
              </a:rPr>
              <a:t>급여+4대보험+퇴직+장비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293613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한 사람이 5채널을 다 못함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퇴사하면 채널이 멈춤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휴가·병가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9178" y="2011680"/>
            <a:ext cx="3393338" cy="3566160"/>
          </a:xfrm>
          <a:prstGeom prst="roundRect">
            <a:avLst/>
          </a:prstGeom>
          <a:solidFill>
            <a:srgbClr val="1A1414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8634" y="2212848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AEB7C8"/>
                </a:solidFill>
                <a:latin typeface="Pretendard"/>
              </a:rPr>
              <a:t>대행사 (5채널)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8634" y="2542032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9A9A"/>
                </a:solidFill>
                <a:latin typeface="Pretendard"/>
              </a:rPr>
              <a:t>월 300~700만원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8634" y="301752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3A7"/>
                </a:solidFill>
                <a:latin typeface="Pretendard"/>
              </a:rPr>
              <a:t>채널마다 따로 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8634" y="3429000"/>
            <a:ext cx="293613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채널 늘수록 비용 급증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내 브랜드 이해도 낮음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· 영상은 별도 견적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1116" y="1874519"/>
            <a:ext cx="3393338" cy="3794760"/>
          </a:xfrm>
          <a:prstGeom prst="roundRect">
            <a:avLst/>
          </a:prstGeom>
          <a:solidFill>
            <a:srgbClr val="0D1A2B"/>
          </a:solidFill>
          <a:ln w="1587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8860" y="2084831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추천 · 이 솔루션 · PSLAB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2468880"/>
            <a:ext cx="29361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월 200만원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860" y="315468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3A7"/>
                </a:solidFill>
                <a:latin typeface="Pretendard"/>
              </a:rPr>
              <a:t>정액 · 5채널 전부 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860" y="3611880"/>
            <a:ext cx="293613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Pretendard"/>
              </a:rPr>
              <a:t>✓ 인스타·네이버·구글·스레드·유튜브 전부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Pretendard"/>
              </a:rPr>
              <a:t>✓ 조사·기획·글·이미지·영상까지 자동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Pretendard"/>
              </a:rPr>
              <a:t>✓ 24시간 · 사람 없이 · 안 멈춤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Pretendard"/>
              </a:rPr>
              <a:t>돈으로 환산하면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월 200만원으로,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Pretendard"/>
              </a:rPr>
              <a:t>이만큼을 대신합니다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사람 1명 인건비 대체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1810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조사·기획·제작·업로드를 대신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Pretendard"/>
              </a:rPr>
              <a:t>월 400만원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472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대행사 5채널 대체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85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채널별 대행비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47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Pretendard"/>
              </a:rPr>
              <a:t>월 300만원+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950208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142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회수되는 내 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5195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주 10시간 → 본업에 집중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014215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Pretendard"/>
              </a:rPr>
              <a:t>월 40시간+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17136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81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Pretendard"/>
              </a:rPr>
              <a:t>쌓이는 콘텐츠 자산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188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Pretendard"/>
              </a:rPr>
              <a:t>검색에 남는 영구 자산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58114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Pretendard"/>
              </a:rPr>
              <a:t>연 700개+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84064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5257800"/>
            <a:ext cx="6400800" cy="640080"/>
          </a:xfrm>
          <a:prstGeom prst="roundRect">
            <a:avLst/>
          </a:prstGeom>
          <a:solidFill>
            <a:srgbClr val="101A2E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F6FB"/>
                </a:solidFill>
                <a:latin typeface="Pretendard"/>
              </a:rPr>
              <a:t>받는 가치 (월 환산)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3309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Pretendard"/>
              </a:rPr>
              <a:t>700만원+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377440"/>
            <a:ext cx="3657600" cy="3200400"/>
          </a:xfrm>
          <a:prstGeom prst="roundRect">
            <a:avLst/>
          </a:prstGeom>
          <a:solidFill>
            <a:srgbClr val="1B202E"/>
          </a:solidFill>
          <a:ln w="1270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606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내는 비용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260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4F6FB"/>
                </a:solidFill>
                <a:latin typeface="Pretendard"/>
              </a:rPr>
              <a:t>월 200만원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8B93A7"/>
                </a:solidFill>
                <a:latin typeface="Pretendard"/>
              </a:rPr>
              <a:t>정액 · 5채널 전부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1605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FB454"/>
                </a:solidFill>
                <a:latin typeface="Pretendard"/>
              </a:rPr>
              <a:t>3배+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074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AEB7C8"/>
                </a:solidFill>
                <a:latin typeface="Pretendard"/>
              </a:rPr>
              <a:t>낸 비용 대비 돌아오는 가치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지속의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하루치가 아니라,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1년치가 쌓입니다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Pretendard"/>
              </a:rPr>
              <a:t>매일 벽돌 한 장은 작아 보입니다. 하지만 1년이면 건물이 됩니다. 멈추지 않는 것이 가장 강력한 무기입니다.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Pretendard"/>
              </a:rPr>
              <a:t>365일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쉬지 않고 쌓이는 콘텐츠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99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Pretendard"/>
              </a:rPr>
              <a:t>5채널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동시에 함께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5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Pretendard"/>
              </a:rPr>
              <a:t>0회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5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Pretendard"/>
              </a:rPr>
              <a:t>사람이 멈추는 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Pretendard"/>
              </a:rPr>
              <a:t>강력한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Pretendard"/>
              </a:rPr>
              <a:t>검색과 AI가,</a:t>
            </a:r>
          </a:p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Pretendard"/>
              </a:rPr>
              <a:t>손님을 데려옵니다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Pretendard"/>
              </a:rPr>
              <a:t>콘텐츠가 쌓인다는 건, 인터넷 곳곳에 내 가게 간판을 세우는 것과 같습니다. 광고비를 쓰지 않아도 사람들이 알아서 찾아옵니다.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57600"/>
            <a:ext cx="5181447" cy="173736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Pretendard"/>
              </a:rPr>
              <a:t>지금까지 · 검색(SEO)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검색해서 찾아옵니다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글과 영상이 많아질수록 네이버·구글·유튜브 검색에 더 자주 노출됩니다. 광고는 끄면 끝이지만, 콘텐츠는 남아 계속 손님을 데려옵니다.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657600"/>
            <a:ext cx="5181447" cy="173736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Pretendard"/>
              </a:rPr>
              <a:t>앞으로 · AI 추천(GEO)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Pretendard"/>
              </a:rPr>
              <a:t>AI가 추천해 줍니다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이제는 챗봇에게 '추천해줘'라고 묻습니다. 여러 채널에 일관된 콘텐츠가 쌓이면, AI가 우리 브랜드를 더 자주 소개합니다.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77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Pretendard"/>
              </a:rPr>
              <a:t>먼저 콘텐츠를 쌓은 브랜드가, 검색과 AI 시대를 함께 선점합니다.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592927" y="1097280"/>
            <a:ext cx="1005840" cy="100584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sz="2100" b="1">
                <a:solidFill>
                  <a:srgbClr val="F4F6FB"/>
                </a:solidFill>
                <a:latin typeface="Georgia"/>
              </a:rPr>
              <a:t>P.S</a:t>
            </a:r>
          </a:p>
          <a:p>
            <a:pPr algn="ctr">
              <a:lnSpc>
                <a:spcPct val="95000"/>
              </a:lnSpc>
            </a:pPr>
            <a:r>
              <a:rPr sz="210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317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당신의 브랜드는,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Pretendard"/>
              </a:rPr>
              <a:t>자는 동안에도 자랍니다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월 200만원으로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사람 한 명 몫을 대신하고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5채널이 매일 쌓이고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조사·최적화까지 자동으로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1116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Pretendard"/>
              </a:rPr>
              <a:t>검색·AI가 데려옵니다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Pretendard"/>
              </a:rPr>
              <a:t>광고 없이 손님이 찾아옵니다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AEB7C8"/>
                </a:solidFill>
                <a:latin typeface="Pretendard"/>
              </a:rPr>
              <a:t>● PSLAB · SNS 채널 자동화 솔루션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