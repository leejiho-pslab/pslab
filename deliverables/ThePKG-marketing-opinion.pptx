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embeddedFontLst>
    <p:embeddedFont>
      <p:font typeface="Pretendard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475488"/>
            <a:ext cx="1554480" cy="457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retendard"/>
              </a:rPr>
              <a:t>더패키지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1A1A1A"/>
                </a:solidFill>
                <a:latin typeface="Pretendard"/>
              </a:rPr>
              <a:t>더패키지</a:t>
            </a:r>
          </a:p>
          <a:p>
            <a:pPr algn="l">
              <a:lnSpc>
                <a:spcPct val="108000"/>
              </a:lnSpc>
            </a:pPr>
            <a:r>
              <a:rPr sz="4200" b="1">
                <a:solidFill>
                  <a:srgbClr val="1A1A1A"/>
                </a:solidFill>
                <a:latin typeface="Pretendard"/>
              </a:rPr>
              <a:t>마케팅 의견서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120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A5A63"/>
                </a:solidFill>
                <a:latin typeface="Pretendard"/>
              </a:rPr>
              <a:t>2026-07-21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A5A63"/>
                </a:solidFill>
                <a:latin typeface="Pretendard"/>
              </a:rPr>
              <a:t>문제해결연구소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더패키지 브랜딩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697033" cy="566928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3961" y="1417320"/>
            <a:ext cx="8360805" cy="566928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84248"/>
            <a:ext cx="269703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코어 메시지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3961" y="1984248"/>
            <a:ext cx="836080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숨기지 않는 인테리어 — 견적부터 과정·자재까지 전부 공개한다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52928"/>
            <a:ext cx="269703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핵심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3961" y="2852928"/>
            <a:ext cx="836080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주거공간 인테리어·전체/부분 리모델링 (한샘리하우스 공식대리점)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21608"/>
            <a:ext cx="269703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고객 (비주얼 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3961" y="3721608"/>
            <a:ext cx="836080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30~50대 실거주 리모델링 수요 · 가성비와 신뢰를 중시하는 실속형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590288"/>
            <a:ext cx="2697033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차별점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3961" y="4590288"/>
            <a:ext cx="836080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- 항목별 견적 100% 공개 (투명성)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- 한샘 정품 자재 · 창호 10년 보증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- 2024 한국고객만족도 1위 · 전문 디자이너 20명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경쟁사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코로나 기간부터 (2019년~현재)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2025년 1월 ~ 현재</a:t>
            </a:r>
          </a:p>
        </p:txBody>
      </p:sp>
      <p:pic>
        <p:nvPicPr>
          <p:cNvPr id="7" name="Picture 6" descr="comp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94327"/>
            <a:ext cx="5669280" cy="2326544"/>
          </a:xfrm>
          <a:prstGeom prst="rect">
            <a:avLst/>
          </a:prstGeom>
        </p:spPr>
      </p:pic>
      <p:pic>
        <p:nvPicPr>
          <p:cNvPr id="8" name="Picture 7" descr="comp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499288"/>
            <a:ext cx="5669280" cy="2316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3212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· 아파트멘터리가 인테리어 브랜드 검색을 압도적으로 주도(카테고리 1위). 카민·림·한성·레브드홈은 완만한 하향/횡보.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· 시사점 : 전국 브랜드 검색은 아파트멘터리 독주 구조 → 더패키지는 '용인·기흥 지역 + 견적공개' 롱테일에서 승부해야 효율적.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A9AA6"/>
                </a:solidFill>
                <a:latin typeface="Pretendard"/>
              </a:rPr>
              <a:t>※ 네이버 데이터랩 검색 트렌드 지수(상대값) · 부분월(26.07) 제외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경쟁사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아파트멘터리</a:t>
            </a:r>
          </a:p>
        </p:txBody>
      </p:sp>
      <p:pic>
        <p:nvPicPr>
          <p:cNvPr id="6" name="Picture 5" descr="kw_a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30217"/>
            <a:ext cx="3566160" cy="3711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168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림디자인</a:t>
            </a:r>
          </a:p>
        </p:txBody>
      </p:sp>
      <p:pic>
        <p:nvPicPr>
          <p:cNvPr id="8" name="Picture 7" descr="kw_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030217"/>
            <a:ext cx="3566160" cy="3711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644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3. 카민디자인</a:t>
            </a:r>
          </a:p>
        </p:txBody>
      </p:sp>
      <p:pic>
        <p:nvPicPr>
          <p:cNvPr id="10" name="Picture 9" descr="kw_ka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030217"/>
            <a:ext cx="3566160" cy="3711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A9AA6"/>
                </a:solidFill>
                <a:latin typeface="Pretendard"/>
              </a:rPr>
              <a:t>※ 검색 트렌드=네이버 데이터랩(실측) · 성별·나이대는 업종 일반 패턴 기준 추정(키워드도구 미연동)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시장 검색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아파트리모델링</a:t>
            </a:r>
          </a:p>
        </p:txBody>
      </p:sp>
      <p:pic>
        <p:nvPicPr>
          <p:cNvPr id="6" name="Picture 5" descr="kw_ap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30217"/>
            <a:ext cx="3566160" cy="3711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168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인테리어업체</a:t>
            </a:r>
          </a:p>
        </p:txBody>
      </p:sp>
      <p:pic>
        <p:nvPicPr>
          <p:cNvPr id="8" name="Picture 7" descr="kw_b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030217"/>
            <a:ext cx="3566160" cy="3711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6448" y="1417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3. 구축아파트리모델링</a:t>
            </a:r>
          </a:p>
        </p:txBody>
      </p:sp>
      <p:pic>
        <p:nvPicPr>
          <p:cNvPr id="10" name="Picture 9" descr="kw_g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030217"/>
            <a:ext cx="3566160" cy="3711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A9AA6"/>
                </a:solidFill>
                <a:latin typeface="Pretendard"/>
              </a:rPr>
              <a:t>※ '아파트리모델링'이 시장 대표 키워드(최상단). '구축아파트리모델링'은 연초 상승 → 구축 수요 뚜렷. 성·연령은 추정.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핵심 키워드 노출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자사 노출 현황 (브랜드/지역 키워드)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지역 vs 자사 검색량 (용인)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577840" cy="3383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3A5F"/>
                </a:solidFill>
                <a:latin typeface="Pretendard"/>
              </a:rPr>
              <a:t>네이버 검색 노출 점검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· '더패키지' : 오늘의집 파워링크·플레이스·블로그 상위 노출 확인 (브랜드 방어 양호).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· '용인 리모델링 / 기흥 인테리어' : 오늘의집·경쟁 대리점 광고가 상단 선점 → 지역 일반 키워드 노출 약함.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· 블로그 후기 다수 상위 노출(신뢰 자산) — 단, 상당수가 유사 문구의 체험단형.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· 유튜브 영상이 '평수+예산' 롱테일 검색을 견인(자산).</a:t>
            </a:r>
          </a:p>
        </p:txBody>
      </p:sp>
      <p:pic>
        <p:nvPicPr>
          <p:cNvPr id="8" name="Picture 7" descr="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561503"/>
            <a:ext cx="5577840" cy="22836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10528" y="525780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5A63"/>
                </a:solidFill>
                <a:latin typeface="Pretendard"/>
              </a:rPr>
              <a:t>더패키지 검색량은 유튜브 업로드 시점(25.07·25.10)에 급등 → 콘텐츠가 검색 수요를 직접 창출.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SNS · 콘텐츠 운영사항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강점 — 유튜브 '견적 공개'가 핵심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약점 — 채널 간 메시지·소재 편차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Pretendard"/>
              </a:rPr>
              <a:t>구독 2.07만 · 영상 349편 · 누적 262만 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'평수+총예산+세부견적 공개' 공식이 반복 히트. 신뢰·정보성으로 검색·문의를 직접 창출.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투명성 = 명확한 차별점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'브랜드는 비싸다'는 편견을 숫자로 반박 — 카테고리에서 드문 포지션.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한샘 공식대리점 백본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자재·보증 신뢰가 콘텐츠 설득력을 뒷받침.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B8895A"/>
                </a:solidFill>
                <a:latin typeface="Pretendard"/>
              </a:rPr>
              <a:t>유튜브 강 · 인스타/블로그 약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유튜브 자산 대비 인스타 릴스·블로그의 감도/일관성이 낮음(현장 나열형).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소재 다변화 부족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'견적 공개' 단일 축에 집중 → 시즌/정보/신뢰 등 포맷 다변화 여지.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후기 생태계의 진정성 리스크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다수 블로그 후기가 유사 문구(체험단형) → 자연 후기 비중 확대 필요.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자사몰 · 문의 관련사항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문의 경로 구조 (플랫폼 의존)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개선 포인트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Pretendard"/>
              </a:rPr>
              <a:t>전용 자사몰/랜딩 부재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문의가 오늘의집·네이버 블로그·이메일(thepkg@naver.com)로 분산 → 전환 추적 어려움.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상담 유입의 병목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'견적 공개' 콘텐츠로 관심은 크나, 즉시 상담 전환 UI(원클릭 견적폼)가 약함.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플랫폼 수수료·노출 종속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오늘의집 광고 의존도 높음 → 자체 채널로 상담 이관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B8895A"/>
                </a:solidFill>
                <a:latin typeface="Pretendard"/>
              </a:rPr>
              <a:t>원클릭 견적 상담 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평수·예산·주소만 받는 초간단 폼 + 카카오 채널 연결.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콘텐츠→상담 동선 통일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유튜브/인스타/블로그 CTA를 하나의 상담 링크로 수렴.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자사 랜딩(경량) 구축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'34평 5,700 견적표'류 대표 콘텐츠를 상담 폼과 묶은 랜딩.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더패키지 SNS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인스타그램 (프로필 / 가독성 / 감도)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블로그 · 유튜브 (썸네일·후기·키워드)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Pretendard"/>
              </a:rPr>
              <a:t>@thepkg_official · 릴스 '오늘의 현장'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시공 스냅·완공컷 중심. 브랜드 무드·톤의 일관성(폰트/컬러/자막)이 약함.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저장·정보형 콘텐츠 부족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견적표·평수별 예산 등 '저장각' 정보 카드가 적음 → 도달/저장 손해.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B8895A"/>
                </a:solidFill>
                <a:latin typeface="Pretendard"/>
              </a:rPr>
              <a:t>블로그 blog.naver.com/thepkg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시공사례·수상·후기 활발. 검색 유입 자산. 단 대표이미지·소제목 SEO 최적화 여지.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유튜브 = 최강 자산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'평수+예산' 롱테일 검색 견인. 인스타·블로그로 하이라이트 재활용 시 시너지.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후기 키워드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'후기가 가장 좋은 더패키지' 언급 다수 → 신뢰 키워드 선점(양날: 진정성 관리).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더패키지 자사 채널 운영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2513145" cy="566928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0073" y="1417320"/>
            <a:ext cx="8544693" cy="566928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정의 (발행 빈도 · 현황)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84248"/>
            <a:ext cx="25131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유튜브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0073" y="1984248"/>
            <a:ext cx="854469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월 4~6회 · 핵심 자산(구독 2.07만/349편) — '평수+견적 공개' 포맷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80360"/>
            <a:ext cx="25131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네이버 블로그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0073" y="2880360"/>
            <a:ext cx="854469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월 8~12회 · 시공사례·후기 중심(검색 유입) — SEO 최적화 여지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76472"/>
            <a:ext cx="25131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인스타그램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80073" y="3776472"/>
            <a:ext cx="854469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월 8~15회(릴스 중심) · 톤·감도 일관성 보강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672583"/>
            <a:ext cx="2513145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Pretendard"/>
              </a:rPr>
              <a:t>스레드 / 기타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0073" y="4672583"/>
            <a:ext cx="8544693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- (미운영) — 유튜브 하이라이트 확산 채널로 활용 여지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3A5F"/>
                </a:solidFill>
                <a:latin typeface="Pretendard"/>
              </a:rPr>
              <a:t>→ 유튜브(강) 자산을 축으로, 인스타 '저장각 정보형' + 블로그 SEO를 붙이면 3채널 선순환이 완성됨.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경쟁사 VOC 분석 (긍정)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9AA6"/>
                </a:solidFill>
                <a:latin typeface="Pretendard"/>
              </a:rPr>
              <a:t>※ 분석 정의 = 국내 상위 인테리어/리모델링 업체 5~7곳(아파트멘터리·한샘 대리점 등)의 고객 피드백 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268932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860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꼼꼼함·완성도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3087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가치관·소통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0313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견적 투명성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77540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사후관리(CRM)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03120"/>
            <a:ext cx="126893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Pretendard"/>
              </a:rPr>
              <a:t>후기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5860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"1mm 오차까지 잡아주고, 마감이 깔끔해 신뢰가 갔어요."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3087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"먼저 물어봐 주고 우리 생활을 이해한 설계였어요."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0313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"항목·금액을 다 보여주니 비교가 쉽고 마음이 놓였어요."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7540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"입주 후에도 A/S가 빨라 만족도가 높습니다."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97679"/>
            <a:ext cx="12689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Pretendard"/>
              </a:rPr>
              <a:t>핵심점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5860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타협 없는 시공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3087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기술이 아닌 '가치'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0313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숨기지 않는 견적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7540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사후관리 = 프리미엄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경쟁사 VOC 분석 (부정)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9AA6"/>
                </a:solidFill>
                <a:latin typeface="Pretendard"/>
              </a:rPr>
              <a:t>※ 분석 정의 = 국내 상위 인테리어/리모델링 업체 5~7곳의 고객 피드백 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268932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860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담당자·소통 변경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3087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예산·일정 초과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0313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후기 진정성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77540" y="1600200"/>
            <a:ext cx="2447226" cy="50292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선택 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03120"/>
            <a:ext cx="126893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Pretendard"/>
              </a:rPr>
              <a:t>후기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5860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"계약 땐 대표가 친절했는데, 시공 들어가니 담당이 바뀌고 소통이 끊겼어요."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3087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"중간에 추가금이 계속 붙고 일정이 밀려 스트레스였어요."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0313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"블로그 후기가 다 비슷한 문구라 진짜인지 의심됐어요."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7540" y="2103120"/>
            <a:ext cx="244722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"브랜드/대리점은 자재·디자인 선택 폭이 좁게 느껴졌어요."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97679"/>
            <a:ext cx="12689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Pretendard"/>
              </a:rPr>
              <a:t>활용점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5860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담당 고정·소통 창구 명시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3087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추가금 조건 사전 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0313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자연 후기·리얼 리뷰 확대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7540" y="4297679"/>
            <a:ext cx="244722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5A63"/>
                </a:solidFill>
                <a:latin typeface="Pretendard"/>
              </a:rPr>
              <a:t>선택지·맞춤 설계 강조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콘텐츠 카테고리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1554480"/>
            <a:ext cx="2011680" cy="548640"/>
          </a:xfrm>
          <a:prstGeom prst="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40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A5A63"/>
                </a:solidFill>
                <a:latin typeface="Pretendard"/>
              </a:rPr>
              <a:t>숨기지 않는 인테리어 — 견적부터 과정까지 다 보여준다.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7143" y="2880360"/>
            <a:ext cx="18288" cy="4572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Pretendard"/>
              </a:rPr>
              <a:t>1. 견적 공개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23360"/>
            <a:ext cx="25587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평수·항목·자재까지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숫자로 공개하는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투명성 콘텐츠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0487" y="5212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비중 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0183" y="2880360"/>
            <a:ext cx="18288" cy="4572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9967" y="342900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Pretendard"/>
              </a:rPr>
              <a:t>2. 시공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967" y="4023360"/>
            <a:ext cx="25587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철거→목공→마감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과정을 그대로 보여주는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리얼 현장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3527" y="5212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비중 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3223" y="2880360"/>
            <a:ext cx="18288" cy="4572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342900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Pretendard"/>
              </a:rPr>
              <a:t>3. 완공 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023360"/>
            <a:ext cx="25587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화이트·우드 완공컷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브랜드 톤을 각인하는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감도 콘텐츠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6567" y="5212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비중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6263" y="2880360"/>
            <a:ext cx="18288" cy="4572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047" y="342900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Pretendard"/>
              </a:rPr>
              <a:t>4. 신뢰·후기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7" y="4023360"/>
            <a:ext cx="25587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공식대리점·수상·보증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실고객 후기로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5A63"/>
                </a:solidFill>
                <a:latin typeface="Pretendard"/>
              </a:rPr>
              <a:t>신뢰를 쌓는 콘텐츠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59607" y="5212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비중 25%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1A1A"/>
                </a:solidFill>
                <a:latin typeface="Pretendard"/>
              </a:rPr>
              <a:t>벤치마킹 SNS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310896"/>
            <a:ext cx="173736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retendard"/>
              </a:rPr>
              <a:t>더패키지 · ThePKG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1. 아파트멘터리 (브랜드 규모·일관성)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1A1A"/>
                </a:solidFill>
                <a:latin typeface="Pretendard"/>
              </a:rPr>
              <a:t>2. 오하우스 / 집꾸미기 (정보·저장형)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Pretendard"/>
              </a:rPr>
              <a:t>압도적 브랜드 자산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일관된 톤앤매너·시리즈 콘텐츠로 '브랜드=카테고리' 각인.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배울 점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포맷 시리즈화(예: '○○평 랜선집들이')와 통일된 자막/썸네일 규칙.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1F3A5F"/>
                </a:solidFill>
                <a:latin typeface="Pretendard"/>
              </a:rPr>
              <a:t>더패키지 적용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'견적 공개'를 시그니처 시리즈로 고정 + 썸네일 규칙 통일.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96596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182880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B8895A"/>
                </a:solidFill>
                <a:latin typeface="Pretendard"/>
              </a:rPr>
              <a:t>정보·저장 중심 릴스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'○○ 꿀팁 TOP N', 체크리스트 등 저장·공유형 포맷 강세.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배울 점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정보 카드(견적표·평수별 예산·체크리스트)로 저장률↑.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350" b="1">
                <a:solidFill>
                  <a:srgbClr val="B8895A"/>
                </a:solidFill>
                <a:latin typeface="Pretendard"/>
              </a:rPr>
              <a:t>더패키지 적용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A5A63"/>
                </a:solidFill>
                <a:latin typeface="Pretendard"/>
              </a:rPr>
              <a:t>유튜브 견적 데이터를 인스타 '저장각 카드'로 재가공.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7432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A1A1A"/>
                </a:solidFill>
                <a:latin typeface="Pretendar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A5A63"/>
                </a:solidFill>
                <a:latin typeface="Pretendard"/>
              </a:rPr>
              <a:t>더패키지 마케팅 의견서 · 문제해결연구소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